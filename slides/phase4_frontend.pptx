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自己紹介と範囲の確認。Phase 3 で API までできている前提。今日は「実装前に何を決めたか」を話す。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第五回と同じ形式。3テーマそれぞれを「なぜ・困る時 → どう対応 → 実例」で回す。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の S5「FastAPI はどこにいるか」の対応版。層が1つ増えただけ、と伝える。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「サーバーコンポーネント」は名前が紛らわしい。サーバーでしか動かないのではなく、ブラウザに JS を送らないのが本質。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判断基準を1問に絞るのがポイント。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curl でサーバーの HTML を見せると一発で伝わる。ブラウザの Network タブを開いても API 通信が1件も出ない、というのが S4 で言った「JS を送らない」の実物。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S9 への伏線。バージョン差の話につなげる。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経路を分けるのが結論。Server Actions は Phase 5 の認証にも効く。Server Actions を選んだ理由: API の URL がブラウザに出ない / CORS 設定が不要 / Phase 5 で Cookie を扱うとき有利。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今日一番伝えたい話。動かないコードを書く前に気づけた。Next.js は 13→16 で作法が変わっている。AGENTS.md は next dev が自動生成するもので、フレームワーク側がバージョン差の問題を認識している証拠になる。やったこと: 公式でバージョン確認 → 記事は 13〜14 時代と判明 → 計画を書き直した。代償: 公式を読む時間、日本語記事が使えない場面、毎回バージョンを確認する手間。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使用頻度を書き出すまで気づかなかった。設計時は全部必要に見えていた。なお、これは「どのページを作るか」の話で、コンポーネントの粒度（Feature-based など）は後半のテーマだと一言添える。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YAGNI の実践。判断を3問に落とす。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モックの作り直しは代償として正直に話す。ただ実装前に気づけたので手戻りは小さかった。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3分ほど時間を取る。第五回と同じ形式。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3つ全部やらせないのが大事。1つに絞る。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1060704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Arial"/>
              </a:rPr>
              <a:t>Phase 4 前半</a:t>
            </a:r>
            <a:r>
              <a:rPr sz="1100" b="0">
                <a:solidFill>
                  <a:srgbClr val="9CA3AF"/>
                </a:solidFill>
                <a:latin typeface="Arial"/>
              </a:rPr>
              <a:t>　｜　フロントエンド（Next.js・API接続）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89888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Next.js と API 接続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900" b="0">
                <a:solidFill>
                  <a:srgbClr val="D1D5DB"/>
                </a:solidFill>
                <a:latin typeface="Arial"/>
              </a:rPr>
              <a:t>― 決めてから、作って確かめた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542032"/>
            <a:ext cx="3931920" cy="0"/>
          </a:xfrm>
          <a:prstGeom prst="line">
            <a:avLst/>
          </a:prstGeom>
          <a:ln w="1524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69748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CA3AF"/>
                </a:solidFill>
                <a:latin typeface="Arial"/>
              </a:rPr>
              <a:t>2026-08-19 ｜ 30分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27248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今日のトピック： </a:t>
            </a:r>
            <a:r>
              <a:rPr sz="1300" b="1">
                <a:solidFill>
                  <a:srgbClr val="FBBF24"/>
                </a:solidFill>
                <a:latin typeface="Arial"/>
              </a:rPr>
              <a:t>境界 / 接続 / 画面</a:t>
            </a:r>
            <a:r>
              <a:rPr sz="1300" b="0">
                <a:solidFill>
                  <a:srgbClr val="D1D5DB"/>
                </a:solidFill>
                <a:latin typeface="Arial"/>
              </a:rPr>
              <a:t> の3つの判断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ゴール： </a:t>
            </a:r>
            <a:r>
              <a:rPr sz="1300" b="0">
                <a:solidFill>
                  <a:srgbClr val="D1D5DB"/>
                </a:solidFill>
                <a:latin typeface="Arial"/>
              </a:rPr>
              <a:t>「境界・接続・画面」を自分のアプリでどうするか、自分で判断できるようになる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4164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CA3AF"/>
                </a:solidFill>
                <a:latin typeface="Arial"/>
              </a:rPr>
              <a:t>ブラウザ  →  Next.js  →  FastAPI  → 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Arial"/>
              </a:rPr>
              <a:t>Phase 3 で右の3つを作った。今日はその左端を足す話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rial"/>
              </a:rPr>
              <a:t>全体像 ｜ 今日の3テーマ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学ぶこととゴール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3つとも学ぶのは「判断」。答えはこの後で出す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89888"/>
          <a:ext cx="8229600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/>
                <a:gridCol w="2286000"/>
                <a:gridCol w="4937760"/>
              </a:tblGrid>
              <a:tr h="2743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テーマ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学ぶ判断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こういう時に困る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Arial"/>
                        </a:rPr>
                        <a:t>境界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処理を
どこで動かすか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ページ全体が重くなり、表示前に空の画面が見える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59669"/>
                          </a:solidFill>
                          <a:latin typeface="Arial"/>
                        </a:rPr>
                        <a:t>接続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API を
どう呼ぶか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登録したのに、一覧が古いまま変わらない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A580C"/>
                          </a:solidFill>
                          <a:latin typeface="Arial"/>
                        </a:rPr>
                        <a:t>画面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機能を
どこまで作るか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モックを7枚作ったが、半分は年に数回しか使わない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310128"/>
            <a:ext cx="822960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85216" y="3401568"/>
            <a:ext cx="7973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11827"/>
                </a:solidFill>
                <a:latin typeface="Arial"/>
              </a:rPr>
              <a:t>今日の立場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Arial"/>
              </a:rPr>
              <a:t>今日は Next.js の全機能ではなく、画面を1つ作るときに必要な判断だけを扱う。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5993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Arial"/>
              </a:rPr>
              <a:t>ゴール： </a:t>
            </a:r>
            <a:r>
              <a:rPr sz="1150" b="0">
                <a:solidFill>
                  <a:srgbClr val="111827"/>
                </a:solidFill>
                <a:latin typeface="Arial"/>
              </a:rPr>
              <a:t>「境界・接続・画面」を自分のアプリでどうするか、自分で判断できるようになる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そのために最後に、自分のアプリで決めることを3つ書き出す時間を取る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rial"/>
              </a:rPr>
              <a:t>ARCHITECTURE ｜ 3分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Next.js はどこにいるか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Phase 3 で作った層の左に、もう1つ層が乗る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44752"/>
            <a:ext cx="370332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3504" y="1536192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ブラウザ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画面を見る・操作する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39696"/>
            <a:ext cx="370332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3504" y="223113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Next.js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D1D5DB"/>
                </a:solidFill>
                <a:latin typeface="Arial"/>
              </a:rPr>
              <a:t>画面を組み立てる／HTTP の入口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39"/>
            <a:ext cx="3703320" cy="56692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03504" y="2926079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FastAPI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D1D5DB"/>
                </a:solidFill>
                <a:latin typeface="Arial"/>
              </a:rPr>
              <a:t>API（Phase 3 で作った）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9583"/>
            <a:ext cx="3703320" cy="566928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3504" y="3621023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PostgreSQL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D1D5DB"/>
                </a:solidFill>
                <a:latin typeface="Arial"/>
              </a:rPr>
              <a:t>永続化（Phase 2 で作った）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481328"/>
            <a:ext cx="82296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45152" y="1444752"/>
            <a:ext cx="4041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Next.js は「画面を作るツール」だけではなく、サーバーとしても動く。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139696"/>
            <a:ext cx="82296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45152" y="2103120"/>
            <a:ext cx="4041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だから API を呼ぶ経路が2つできる。Next.js から呼ぶか、ブラウザから直接呼ぶか。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798063"/>
            <a:ext cx="82296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45152" y="2761487"/>
            <a:ext cx="4041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どちらで呼ぶかで、書き方も見え方も変わる。これが今日の1つ目「境界」の話。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456431"/>
            <a:ext cx="82296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45152" y="3419855"/>
            <a:ext cx="4041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小さいアプリなら経路は1つでよい。分ける理由があるときだけ分ける。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Arial"/>
              </a:rPr>
              <a:t>境界 ｜ サーバーとクライアント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なぜ・困る時：ページ全体が重くなった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8229599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3749039"/>
                <a:gridCol w="2743200"/>
              </a:tblGrid>
              <a:tr h="25603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意味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ブラウザに JavaScript を送るか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Arial"/>
                        </a:rPr>
                        <a:t>サーバー
コンポーネント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サーバーで HTML を組み立ててから送る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送らない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Arial"/>
                        </a:rPr>
                        <a:t>クライアント
コンポーネント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ブラウザ上で JavaScript が動いて描画する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送る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61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Arial"/>
              </a:rPr>
              <a:t>なぜ必要か： </a:t>
            </a:r>
            <a:r>
              <a:rPr sz="1050" b="0">
                <a:solidFill>
                  <a:srgbClr val="111827"/>
                </a:solidFill>
                <a:latin typeface="Arial"/>
              </a:rPr>
              <a:t>既定はサーバー。'use client' と書いた時だけクライアントになる。この1行で、送るものが変わる。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54096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Arial"/>
              </a:rPr>
              <a:t>こういう時に困る： </a:t>
            </a:r>
            <a:r>
              <a:rPr sz="1050" b="0">
                <a:solidFill>
                  <a:srgbClr val="111827"/>
                </a:solidFill>
                <a:latin typeface="Arial"/>
              </a:rPr>
              <a:t>ページの先頭に 'use client' を書いた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・配下のコンポーネントが全部クライアントになる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・支出42件の一覧も、ブラウザ側で組み立てることになる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・表示までに4往復。一瞬「空っぽの画面」が見える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054096"/>
            <a:ext cx="3931920" cy="1321307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55464" y="3154679"/>
            <a:ext cx="3730752" cy="1120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CA3AF"/>
                </a:solidFill>
                <a:latin typeface="Courier New"/>
              </a:rPr>
              <a:t>app/expenses/page.tsx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CA5A5"/>
                </a:solidFill>
                <a:latin typeface="Courier New"/>
              </a:rPr>
              <a:t>'use client'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5E7EB"/>
                </a:solidFill>
                <a:latin typeface="Courier New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5E7EB"/>
                </a:solidFill>
                <a:latin typeface="Courier New"/>
              </a:rPr>
              <a:t>export default function Page()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5E7EB"/>
                </a:solidFill>
                <a:latin typeface="Courier New"/>
              </a:rPr>
              <a:t>  // ここから下は全部クライアント扱い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5E7EB"/>
                </a:solidFill>
                <a:latin typeface="Courier New"/>
              </a:rPr>
              <a:t>  return &lt;ExpenseList items={...} 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5E7EB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Arial"/>
              </a:rPr>
              <a:t>境界 ｜ サーバーとクライアント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どう対応するか：判断は1問だけ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6736"/>
            <a:ext cx="82296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85216" y="1408176"/>
            <a:ext cx="7973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63EB"/>
                </a:solidFill>
                <a:latin typeface="Arial"/>
              </a:rPr>
              <a:t>ブラウザでしか出来ないことを使うか？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Arial"/>
              </a:rPr>
              <a:t>「ブラウザでしか出来ないこと」とは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・onClick / onChange / onSubmit（操作への反応）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・useState / useReducer（状態を持つ）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・useEffect（副作用）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・localStorage / window / document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63440" y="1956816"/>
          <a:ext cx="4023360" cy="8778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3108960"/>
              </a:tblGrid>
              <a:tr h="25603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答え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どうする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クライアント（'use client' を書く）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Arial"/>
                        </a:rPr>
                        <a:t>サーバー（既定。何も書かない）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663440" y="2889504"/>
            <a:ext cx="402336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91455" y="2980944"/>
            <a:ext cx="376732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11827"/>
                </a:solidFill>
                <a:latin typeface="Arial"/>
              </a:rPr>
              <a:t>原則： 'use client' は葉に付ける。根に付けない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11827"/>
                </a:solidFill>
                <a:latin typeface="Arial"/>
              </a:rPr>
              <a:t>ページ（根）に 'use client' を書くと配下が全部クライアントになる。ただし layout の中にクライアント部品を「置く」のは別。その部品だけがクライアントで、children はサーバーのまま。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012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Arial"/>
              </a:rPr>
              <a:t>今日の一手： </a:t>
            </a:r>
            <a:r>
              <a:rPr sz="1050" b="0">
                <a:solidFill>
                  <a:srgbClr val="111827"/>
                </a:solidFill>
                <a:latin typeface="Arial"/>
              </a:rPr>
              <a:t>最初に作る画面で、クライアントが必要な部品を1つだけ決める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13632"/>
            <a:ext cx="822960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3504" y="3995928"/>
            <a:ext cx="7936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結論： </a:t>
            </a:r>
            <a:r>
              <a:rPr sz="1100" b="0">
                <a:solidFill>
                  <a:srgbClr val="111827"/>
                </a:solidFill>
                <a:latin typeface="Arial"/>
              </a:rPr>
              <a:t>既定はサーバー。操作がある部品だけをクライアントに切り出す。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Arial"/>
              </a:rPr>
              <a:t>境界 ｜ サーバーとクライアント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対応の実例：作って測ってみた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3画面を実装した結果。クライアントにしたのは「操作がある部品」だけ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89888"/>
          <a:ext cx="82296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3566160"/>
                <a:gridCol w="3108960"/>
              </a:tblGrid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画面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サーバー（表示だけ）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クライアント（操作がある）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11827"/>
                          </a:solidFill>
                          <a:latin typeface="Arial"/>
                        </a:rPr>
                        <a:t>ホーム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集計・カテゴリ別グラフ・支出一覧・ページ送り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入力フォーム・絞り込み・行内編集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11827"/>
                          </a:solidFill>
                          <a:latin typeface="Arial"/>
                        </a:rPr>
                        <a:t>月次清算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集計・送金額・内訳・月ナビ・過去履歴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「確認する」ボタン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11827"/>
                          </a:solidFill>
                          <a:latin typeface="Arial"/>
                        </a:rPr>
                        <a:t>PayPay 取り込み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未判定の一覧・判定済み履歴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CSV 選択・1行ごとの判定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977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3画面を作り終えた時点の内訳と、ホーム画面での計測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017520"/>
          <a:ext cx="5029200" cy="9692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2011680"/>
              </a:tblGrid>
              <a:tr h="2286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計測項目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結果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ファイル数（サーバー / クライアント）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563EB"/>
                          </a:solidFill>
                          <a:latin typeface="Arial"/>
                        </a:rPr>
                        <a:t>17 / 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ブラウザから叩いた API の数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563EB"/>
                          </a:solidFill>
                          <a:latin typeface="Arial"/>
                        </a:rPr>
                        <a:t>0 件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サーバーが返す HTML に「¥ 16,640」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563EB"/>
                          </a:solidFill>
                          <a:latin typeface="Arial"/>
                        </a:rPr>
                        <a:t>含まれる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0" y="301752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rial"/>
              </a:rPr>
              <a:t>つまり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111827"/>
                </a:solidFill>
                <a:latin typeface="Arial"/>
              </a:rPr>
              <a:t>ブラウザは API を1回も呼んでいないのに、データが表示されている。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111827"/>
                </a:solidFill>
                <a:latin typeface="Arial"/>
              </a:rPr>
              <a:t>クライアントにしたのは入力・絞り込み・ボタンなど「操作がある部品」8つだけ。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24528"/>
            <a:ext cx="822960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03504" y="4306824"/>
            <a:ext cx="7936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結論： </a:t>
            </a:r>
            <a:r>
              <a:rPr sz="1100" b="0">
                <a:solidFill>
                  <a:srgbClr val="111827"/>
                </a:solidFill>
                <a:latin typeface="Arial"/>
              </a:rPr>
              <a:t>画面ではなく部品で決める。表示はサーバー、操作はクライアント。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接続 ｜ データの取得と更新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なぜ・困る時：登録したのに一覧が変わらない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なぜ必要か： </a:t>
            </a:r>
            <a:r>
              <a:rPr sz="1050" b="0">
                <a:solidFill>
                  <a:srgbClr val="111827"/>
                </a:solidFill>
                <a:latin typeface="Arial"/>
              </a:rPr>
              <a:t>取得と更新は別の問題として考える必要がある。同じ fetch でも、扱いが違う。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91056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こういう時に困る： </a:t>
            </a:r>
            <a:r>
              <a:rPr sz="1050" b="0">
                <a:solidFill>
                  <a:srgbClr val="111827"/>
                </a:solidFill>
                <a:latin typeface="Arial"/>
              </a:rPr>
              <a:t>支出を登録した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・DB には入っている（psql で確認できる）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・API も 201 を返している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・でも画面の一覧は古いまま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591056"/>
            <a:ext cx="3931920" cy="1161287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855464" y="1691640"/>
            <a:ext cx="373075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CA3AF"/>
                </a:solidFill>
                <a:latin typeface="Courier New"/>
              </a:rPr>
              <a:t>よくある書き方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5E7EB"/>
                </a:solidFill>
                <a:latin typeface="Courier New"/>
              </a:rPr>
              <a:t>const res = await fetch(url)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5E7EB"/>
                </a:solidFill>
                <a:latin typeface="Courier New"/>
              </a:rPr>
              <a:t>const data = await res.json()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5E7EB"/>
                </a:solidFill>
                <a:latin typeface="Courier New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CA3AF"/>
                </a:solidFill>
                <a:latin typeface="Courier New"/>
              </a:rPr>
              <a:t>これだけでは、更新後に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CA3AF"/>
                </a:solidFill>
                <a:latin typeface="Courier New"/>
              </a:rPr>
              <a:t>再取得されるとは限らない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Arial"/>
              </a:rPr>
              <a:t>この症状から切り分けるべきこと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・キャッシュされていて古い結果が返っているのか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・再取得の指示を出していないだけなのか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・そもそも取得と更新で別の経路を使うべきなのか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・（使っているバージョンで、既定の動きが変わっていないか）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13632"/>
            <a:ext cx="8229600" cy="475488"/>
          </a:xfrm>
          <a:prstGeom prst="rect">
            <a:avLst/>
          </a:prstGeom>
          <a:solidFill>
            <a:srgbClr val="FEFCE8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5216" y="4005072"/>
            <a:ext cx="7973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3F12"/>
                </a:solidFill>
                <a:latin typeface="Arial"/>
              </a:rPr>
              <a:t>最後の1点が今日の山場。ここで一度つまずいた。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接続 ｜ データの取得と更新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どう対応するか：取得と更新で経路を分ける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8229600" cy="987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2377440"/>
                <a:gridCol w="3474720"/>
              </a:tblGrid>
              <a:tr h="25603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操作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経路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書き方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Arial"/>
                        </a:rPr>
                        <a:t>表示（GET）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Arial"/>
                        </a:rPr>
                        <a:t>サーバーコンポーネント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Arial"/>
                        </a:rPr>
                        <a:t>async function にして直接 await する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Arial"/>
                        </a:rPr>
                        <a:t>変更（POST / PATCH / DELETE）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Arial"/>
                        </a:rPr>
                        <a:t>Server Actions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Arial"/>
                        </a:rPr>
                        <a:t>'use server' を書き、最後に refresh() を呼ぶ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2249424"/>
            <a:ext cx="4023360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57784" y="2350008"/>
            <a:ext cx="38221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ourier New"/>
              </a:rPr>
              <a:t>表示：サーバーコンポーネント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5E7EB"/>
                </a:solidFill>
                <a:latin typeface="Courier New"/>
              </a:rPr>
              <a:t>export default async function Page()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5E7EB"/>
                </a:solidFill>
                <a:latin typeface="Courier New"/>
              </a:rPr>
              <a:t>  const data = await apiGet('/api/expenses/')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5E7EB"/>
                </a:solidFill>
                <a:latin typeface="Courier New"/>
              </a:rPr>
              <a:t>  return &lt;ExpenseList items={data.items} 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5E7EB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249424"/>
            <a:ext cx="3931920" cy="1078992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55464" y="2350008"/>
            <a:ext cx="373075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ourier New"/>
              </a:rPr>
              <a:t>変更：Server Actions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6EFAC"/>
                </a:solidFill>
                <a:latin typeface="Courier New"/>
              </a:rPr>
              <a:t>'use server'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5E7EB"/>
                </a:solidFill>
                <a:latin typeface="Courier New"/>
              </a:rPr>
              <a:t>export async function createExpense(fd)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5E7EB"/>
                </a:solidFill>
                <a:latin typeface="Courier New"/>
              </a:rPr>
              <a:t>  await fetch(API + '/api/expenses/', {...})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6EFAC"/>
                </a:solidFill>
                <a:latin typeface="Courier New"/>
              </a:rPr>
              <a:t>  refresh()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5E7EB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3697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実際に支出を1件登録したときの変化（ページ遷移なし）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474720"/>
          <a:ext cx="8229600" cy="7132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371600"/>
                <a:gridCol w="822960"/>
                <a:gridCol w="1737360"/>
                <a:gridCol w="1188720"/>
                <a:gridCol w="2194560"/>
              </a:tblGrid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合計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件数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外食カテゴリ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送金額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ブラウザのAPI呼び出し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827"/>
                          </a:solidFill>
                          <a:latin typeface="Arial"/>
                        </a:rPr>
                        <a:t>送信前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827"/>
                          </a:solidFill>
                          <a:latin typeface="Arial"/>
                        </a:rPr>
                        <a:t>¥20,288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827"/>
                          </a:solidFill>
                          <a:latin typeface="Arial"/>
                        </a:rPr>
                        <a:t>9 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827"/>
                          </a:solidFill>
                          <a:latin typeface="Arial"/>
                        </a:rPr>
                        <a:t>¥2,800（1件）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827"/>
                          </a:solidFill>
                          <a:latin typeface="Arial"/>
                        </a:rPr>
                        <a:t>¥1,896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82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827"/>
                          </a:solidFill>
                          <a:latin typeface="Arial"/>
                        </a:rPr>
                        <a:t>送信後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Arial"/>
                        </a:rPr>
                        <a:t>¥22,868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Arial"/>
                        </a:rPr>
                        <a:t>10 件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Arial"/>
                        </a:rPr>
                        <a:t>¥5,380（2件）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Arial"/>
                        </a:rPr>
                        <a:t>¥3,186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82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8795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11827"/>
                </a:solidFill>
                <a:latin typeface="Arial"/>
              </a:rPr>
              <a:t>集計・グラフ・一覧が同時に更新される。個別に取り直すコードは書いていない（refresh() 1行だけ）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25696"/>
            <a:ext cx="822960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3504" y="4507992"/>
            <a:ext cx="7936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結論： </a:t>
            </a:r>
            <a:r>
              <a:rPr sz="1100" b="0">
                <a:solidFill>
                  <a:srgbClr val="111827"/>
                </a:solidFill>
                <a:latin typeface="Arial"/>
              </a:rPr>
              <a:t>表示はサーバーで await、変更は Server Actions。更新後は refresh()。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接続 ｜ データの取得と更新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対応の実例：調べたら記事と違っていた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条件： </a:t>
            </a:r>
            <a:r>
              <a:rPr sz="1050" b="0">
                <a:solidFill>
                  <a:srgbClr val="111827"/>
                </a:solidFill>
                <a:latin typeface="Arial"/>
              </a:rPr>
              <a:t>検索で出てきた記事を見ながら書こうとした。書き方が記事どうしで食い違っていた。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82296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/>
                <a:gridCol w="3200400"/>
                <a:gridCol w="3108960"/>
              </a:tblGrid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項目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記事に多い情報（13〜14）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実際（16.3.1）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fetch のキャッシュ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既定でキャッシュされる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11827"/>
                          </a:solidFill>
                          <a:latin typeface="Arial"/>
                        </a:rPr>
                        <a:t>キャッシュされない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キャッシュ回避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{ cache: 'no-store' } を明示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11827"/>
                          </a:solidFill>
                          <a:latin typeface="Arial"/>
                        </a:rPr>
                        <a:t>不要（既定がその動き）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更新後の画面反映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router.refresh() をクライアントで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11827"/>
                          </a:solidFill>
                          <a:latin typeface="Arial"/>
                        </a:rPr>
                        <a:t>refresh() を Server Action 内で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変更処理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クライアントから fetch(POST)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11827"/>
                          </a:solidFill>
                          <a:latin typeface="Arial"/>
                        </a:rPr>
                        <a:t>Server Actions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88950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しかも、Next.js 自身が警告していた</a:t>
            </a:r>
            <a:r>
              <a:rPr sz="950" b="0">
                <a:solidFill>
                  <a:srgbClr val="6B7280"/>
                </a:solidFill>
                <a:latin typeface="Arial"/>
              </a:rPr>
              <a:t>　― npm run dev が AGENTS.md を自動生成する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45536"/>
            <a:ext cx="4937760" cy="107350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9496" y="3227832"/>
            <a:ext cx="4773168" cy="90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CA5A5"/>
                </a:solidFill>
                <a:latin typeface="Courier New"/>
              </a:rPr>
              <a:t># This is NOT the Next.js you know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E5E7EB"/>
                </a:solidFill>
                <a:latin typeface="Courier New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E5E7EB"/>
                </a:solidFill>
                <a:latin typeface="Courier New"/>
              </a:rPr>
              <a:t>This version has breaking changes — APIs,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E5E7EB"/>
                </a:solidFill>
                <a:latin typeface="Courier New"/>
              </a:rPr>
              <a:t>conventions, and file structure may all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E5E7EB"/>
                </a:solidFill>
                <a:latin typeface="Courier New"/>
              </a:rPr>
              <a:t>differ from your training data. Read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E5E7EB"/>
                </a:solidFill>
                <a:latin typeface="Courier New"/>
              </a:rPr>
              <a:t>relevant guide in node_modules/next/dist/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E5E7EB"/>
                </a:solidFill>
                <a:latin typeface="Courier New"/>
              </a:rPr>
              <a:t>docs/ before writing any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145536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827"/>
                </a:solidFill>
                <a:latin typeface="Arial"/>
              </a:rPr>
              <a:t>読み取れること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111827"/>
                </a:solidFill>
                <a:latin typeface="Arial"/>
              </a:rPr>
              <a:t>・フレームワーク自身がバージョン差の問題を認めている</a:t>
            </a:r>
          </a:p>
          <a:p>
            <a:pPr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111827"/>
                </a:solidFill>
                <a:latin typeface="Arial"/>
              </a:rPr>
              <a:t>・ドキュメントが node_modules に同梱されている</a:t>
            </a:r>
          </a:p>
          <a:p>
            <a:pPr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111827"/>
                </a:solidFill>
                <a:latin typeface="Arial"/>
              </a:rPr>
              <a:t>・読んだ結果、動的ルートの params が Promise だと分かった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43984"/>
            <a:ext cx="822960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3504" y="4526280"/>
            <a:ext cx="7936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結論： </a:t>
            </a:r>
            <a:r>
              <a:rPr sz="1100" b="0">
                <a:solidFill>
                  <a:srgbClr val="111827"/>
                </a:solidFill>
                <a:latin typeface="Arial"/>
              </a:rPr>
              <a:t>バージョンを確認して、公式を一次情報にする。記事は補助に使う。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580C"/>
                </a:solidFill>
                <a:latin typeface="Arial"/>
              </a:rPr>
              <a:t>画面 ｜ 作る範囲を決める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なぜ・困る時：7画面のモックを作ったが多すぎた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「どのページを作るか」の話。コンポーネントの分け方（Feature-based など）は Phase 4 後半のテーマ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580C"/>
                </a:solidFill>
                <a:latin typeface="Arial"/>
              </a:rPr>
              <a:t>なぜ必要か： </a:t>
            </a:r>
            <a:r>
              <a:rPr sz="1050" b="0">
                <a:solidFill>
                  <a:srgbClr val="111827"/>
                </a:solidFill>
                <a:latin typeface="Arial"/>
              </a:rPr>
              <a:t>作る前に「作らないもの」を決めないと、使われない画面に時間を使う。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824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580C"/>
                </a:solidFill>
                <a:latin typeface="Arial"/>
              </a:rPr>
              <a:t>こういう時に困る： </a:t>
            </a:r>
            <a:r>
              <a:rPr sz="1050" b="0">
                <a:solidFill>
                  <a:srgbClr val="111827"/>
                </a:solidFill>
                <a:latin typeface="Arial"/>
              </a:rPr>
              <a:t>設計フェーズでモックを7枚作った。実装量を見積もったら 12〜16 時間だった。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93392"/>
          <a:ext cx="822960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2926080"/>
                <a:gridCol w="2194560"/>
              </a:tblGrid>
              <a:tr h="2286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当初の画面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使用頻度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実装の重さ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ダッシュボード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11827"/>
                          </a:solidFill>
                          <a:latin typeface="Arial"/>
                        </a:rPr>
                        <a:t>毎日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重い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支出一覧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週1〜月1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中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月次清算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11827"/>
                          </a:solidFill>
                          <a:latin typeface="Arial"/>
                        </a:rPr>
                        <a:t>月1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中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PayPay 取り込み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週1〜月1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重い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カテゴリ管理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A580C"/>
                          </a:solidFill>
                          <a:latin typeface="Arial"/>
                        </a:rPr>
                        <a:t>年に数回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中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ログイン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（認証は Phase 5）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中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アカウントメニュー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A580C"/>
                          </a:solidFill>
                          <a:latin typeface="Arial"/>
                        </a:rPr>
                        <a:t>ほぼ使わない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軽い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968496"/>
            <a:ext cx="8229600" cy="438912"/>
          </a:xfrm>
          <a:prstGeom prst="rect">
            <a:avLst/>
          </a:prstGeom>
          <a:solidFill>
            <a:srgbClr val="FEFCE8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4059935"/>
            <a:ext cx="7973568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3F12"/>
                </a:solidFill>
                <a:latin typeface="Arial"/>
              </a:rPr>
              <a:t>使用頻度を書き出したら、半分は年に数回しか使わない画面だった。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580C"/>
                </a:solidFill>
                <a:latin typeface="Arial"/>
              </a:rPr>
              <a:t>画面 ｜ 作る範囲を決める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どう対応するか：使用頻度で切る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1673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Arial"/>
              </a:rPr>
              <a:t>画面を1つずつ、この3問にかける。No が多いほど独立させる必要がない。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1. </a:t>
            </a:r>
            <a:r>
              <a:rPr sz="1200" b="1">
                <a:solidFill>
                  <a:srgbClr val="111827"/>
                </a:solidFill>
                <a:latin typeface="Arial"/>
              </a:rPr>
              <a:t>その画面を週1回以上使うか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2. </a:t>
            </a:r>
            <a:r>
              <a:rPr sz="1200" b="1">
                <a:solidFill>
                  <a:srgbClr val="111827"/>
                </a:solidFill>
                <a:latin typeface="Arial"/>
              </a:rPr>
              <a:t>他の画面に入れられないか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3. </a:t>
            </a:r>
            <a:r>
              <a:rPr sz="1200" b="1">
                <a:solidFill>
                  <a:srgbClr val="111827"/>
                </a:solidFill>
                <a:latin typeface="Arial"/>
              </a:rPr>
              <a:t>その画面が無いと運用が止まるか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0" y="1645920"/>
          <a:ext cx="3657600" cy="11338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2560320"/>
              </a:tblGrid>
              <a:tr h="25603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No の数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やること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Arial"/>
                        </a:rPr>
                        <a:t>そのまま作る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Arial"/>
                        </a:rPr>
                        <a:t>1〜2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Arial"/>
                        </a:rPr>
                        <a:t>他の画面に統合する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Arial"/>
                        </a:rPr>
                        <a:t>作らない（API は残す）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2816352"/>
            <a:ext cx="822960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5216" y="2907792"/>
            <a:ext cx="7973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11827"/>
                </a:solidFill>
                <a:latin typeface="Arial"/>
              </a:rPr>
              <a:t>大事な点： 機能を消すのではなく、画面を作らない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API とカラムは残したまま、UI だけ作らない。必要になったら画面を足すだけで済む。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958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580C"/>
                </a:solidFill>
                <a:latin typeface="Arial"/>
              </a:rPr>
              <a:t>今日の一手： </a:t>
            </a:r>
            <a:r>
              <a:rPr sz="1050" b="0">
                <a:solidFill>
                  <a:srgbClr val="111827"/>
                </a:solidFill>
                <a:latin typeface="Arial"/>
              </a:rPr>
              <a:t>自分のモックで、使用頻度が一番低い画面を1つ挙げる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96512"/>
            <a:ext cx="822960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3504" y="4178808"/>
            <a:ext cx="7936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結論： </a:t>
            </a:r>
            <a:r>
              <a:rPr sz="1100" b="0">
                <a:solidFill>
                  <a:srgbClr val="111827"/>
                </a:solidFill>
                <a:latin typeface="Arial"/>
              </a:rPr>
              <a:t>使用頻度が低い画面は独立させない。API は残して UI だけ作らない。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580C"/>
                </a:solidFill>
                <a:latin typeface="Arial"/>
              </a:rPr>
              <a:t>画面 ｜ 作る範囲を決める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対応の実例：7画面 → 3画面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35024"/>
          <a:ext cx="484632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2468880"/>
              </a:tblGrid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当初の画面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判断</a:t>
                      </a:r>
                    </a:p>
                  </a:txBody>
                  <a:tcPr marL="64008" marR="64008" marT="27432" marB="27432" anchor="ctr">
                    <a:solidFill>
                      <a:srgbClr val="374151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ダッシュボード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残す（ホームに改称）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支出一覧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A580C"/>
                          </a:solidFill>
                          <a:latin typeface="Arial"/>
                        </a:rPr>
                        <a:t>ホームに統合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月次清算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残す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PayPay 取り込み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残す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カテゴリ管理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A580C"/>
                          </a:solidFill>
                          <a:latin typeface="Arial"/>
                        </a:rPr>
                        <a:t>廃止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ログイン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Phase 5 に送る</a:t>
                      </a:r>
                    </a:p>
                  </a:txBody>
                  <a:tcPr marL="64008" marR="64008" marT="27432" marB="27432" anchor="ctr">
                    <a:solidFill>
                      <a:srgbClr val="F9FAFB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11827"/>
                          </a:solidFill>
                          <a:latin typeface="Arial"/>
                        </a:rPr>
                        <a:t>アカウントメニュー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A580C"/>
                          </a:solidFill>
                          <a:latin typeface="Arial"/>
                        </a:rPr>
                        <a:t>廃止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23560" y="1335024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  <a:latin typeface="Arial"/>
              </a:rPr>
              <a:t>廃止した機能の行き先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111827"/>
                </a:solidFill>
                <a:latin typeface="Arial"/>
              </a:rPr>
              <a:t>・支出一覧 → ホーム下部に統合。編集は行内で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111827"/>
                </a:solidFill>
                <a:latin typeface="Arial"/>
              </a:rPr>
              <a:t>・カテゴリ追加 → 入力欄の「+ 新規」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111827"/>
                </a:solidFill>
                <a:latin typeface="Arial"/>
              </a:rPr>
              <a:t>・並び替え・アーカイブ → 作らない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111827"/>
                </a:solidFill>
                <a:latin typeface="Arial"/>
              </a:rPr>
              <a:t>・表示名・パスワード変更 → Phase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2761488"/>
            <a:ext cx="306324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751576" y="2852928"/>
            <a:ext cx="2807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得たもの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6534"/>
                </a:solidFill>
                <a:latin typeface="Arial"/>
              </a:rPr>
              <a:t>実装が概ね半分になり、Phase 5 に早く進める。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18688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代償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111827"/>
                </a:solidFill>
                <a:latin typeface="Arial"/>
              </a:rPr>
              <a:t>・カテゴリの並び替えが UI からできない（API は残してある）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111827"/>
                </a:solidFill>
                <a:latin typeface="Arial"/>
              </a:rPr>
              <a:t>・モックを作り直す手間が発生した（PC 版とスマホ版で6枚）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59936"/>
            <a:ext cx="822960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03504" y="4142232"/>
            <a:ext cx="7936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結論： </a:t>
            </a:r>
            <a:r>
              <a:rPr sz="1100" b="0">
                <a:solidFill>
                  <a:srgbClr val="111827"/>
                </a:solidFill>
                <a:latin typeface="Arial"/>
              </a:rPr>
              <a:t>使用頻度で切る。API を残しておけば、後から画面を足せる。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rial"/>
              </a:rPr>
              <a:t>自分のアプリへ ｜ 3つを決める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827"/>
                </a:solidFill>
                <a:latin typeface="Arial"/>
              </a:rPr>
              <a:t>自分のアプリで決めること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手元のモックかコードを開いて、3つを1行ずつ書く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481328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境界</a:t>
            </a:r>
            <a:r>
              <a:rPr sz="1100" b="0">
                <a:solidFill>
                  <a:srgbClr val="111827"/>
                </a:solidFill>
                <a:latin typeface="Arial"/>
              </a:rPr>
              <a:t>　最初に作る画面で、'use client' が必要な部品を1つ挙げる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21284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39696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接続</a:t>
            </a:r>
            <a:r>
              <a:rPr sz="1100" b="0">
                <a:solidFill>
                  <a:srgbClr val="111827"/>
                </a:solidFill>
                <a:latin typeface="Arial"/>
              </a:rPr>
              <a:t>　更新後に画面を更新する手段を決めたか（使う関数名を1つ書く）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287121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98064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A580C"/>
                </a:solidFill>
                <a:latin typeface="Arial"/>
              </a:rPr>
              <a:t>画面</a:t>
            </a:r>
            <a:r>
              <a:rPr sz="1100" b="0">
                <a:solidFill>
                  <a:srgbClr val="111827"/>
                </a:solidFill>
                <a:latin typeface="Arial"/>
              </a:rPr>
              <a:t>　作らないと決めた画面はあるか（1つ挙げる。無ければ「なし」）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9584"/>
            <a:ext cx="82296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5216" y="3621024"/>
            <a:ext cx="797356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11827"/>
                </a:solidFill>
                <a:latin typeface="Arial"/>
              </a:rPr>
              <a:t>まだコードがない人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作る予定の画面で「どこをクライアントにするか・どう更新するか・作らない画面はどれか」を紙に書く。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42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Arial"/>
              </a:rPr>
              <a:t>書けたら、1つだけ共有してください（パス可）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796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Phase 4 前半 ｜ Next.js・API接続 ｜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BBF24"/>
                </a:solidFill>
                <a:latin typeface="Arial"/>
              </a:rPr>
              <a:t>まとめ ｜ 明日やる1つ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明日やる1つを決める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Arial"/>
              </a:rPr>
              <a:t>今日のキーワード： </a:t>
            </a:r>
            <a:r>
              <a:rPr sz="1300" b="1">
                <a:solidFill>
                  <a:srgbClr val="FFFFFF"/>
                </a:solidFill>
                <a:latin typeface="Arial"/>
              </a:rPr>
              <a:t>境界 / 接続 / 画面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01952"/>
            <a:ext cx="12801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7589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境界</a:t>
            </a:r>
            <a:r>
              <a:rPr sz="1100" b="0">
                <a:solidFill>
                  <a:srgbClr val="D1D5DB"/>
                </a:solidFill>
                <a:latin typeface="Arial"/>
              </a:rPr>
              <a:t>　既定はサーバー。操作がある部品だけ 'use client' を付ける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28016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395728"/>
            <a:ext cx="7589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接続</a:t>
            </a:r>
            <a:r>
              <a:rPr sz="1100" b="0">
                <a:solidFill>
                  <a:srgbClr val="D1D5DB"/>
                </a:solidFill>
                <a:latin typeface="Arial"/>
              </a:rPr>
              <a:t>　表示は await、変更は Server Actions。更新後に refresh()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52928"/>
            <a:ext cx="128016" cy="274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6112" y="2871216"/>
            <a:ext cx="7589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画面</a:t>
            </a:r>
            <a:r>
              <a:rPr sz="1100" b="0">
                <a:solidFill>
                  <a:srgbClr val="D1D5DB"/>
                </a:solidFill>
                <a:latin typeface="Arial"/>
              </a:rPr>
              <a:t>　使用頻度が低い画面は作らない。API は残しておく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01568"/>
            <a:ext cx="7863840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3つ全部ではなく、決めた1つだけ。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33087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Arial"/>
              </a:rPr>
              <a:t>今日の副産物： </a:t>
            </a:r>
            <a:r>
              <a:rPr sz="1100" b="0">
                <a:solidFill>
                  <a:srgbClr val="D1D5DB"/>
                </a:solidFill>
                <a:latin typeface="Arial"/>
              </a:rPr>
              <a:t>バージョンを確認して公式を読む。記事は補助に使う。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43984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Arial"/>
              </a:rPr>
              <a:t>次回：Phase 4 後半（コンポーネント設計・UI ライブラリ）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