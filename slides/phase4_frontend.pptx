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【1分30秒】導入</a:t>
            </a:r>
          </a:p>
          <a:p/>
          <a:p>
            <a:r>
              <a:t>◆ 名乗り</a:t>
            </a:r>
          </a:p>
          <a:p>
            <a:r>
              <a:t>・Phase 4 の前半、フロントエンドと API 接続を担当します</a:t>
            </a:r>
          </a:p>
          <a:p/>
          <a:p>
            <a:r>
              <a:t>◆ 今日の立ち位置を図で示す</a:t>
            </a:r>
          </a:p>
          <a:p>
            <a:r>
              <a:t>・下の帯を指す：ブラウザ → Next.js → FastAPI → PostgreSQL</a:t>
            </a:r>
          </a:p>
          <a:p>
            <a:r>
              <a:t>・右の3つは前回まで（Phase 2 で DB、Phase 3 で API）</a:t>
            </a:r>
          </a:p>
          <a:p>
            <a:r>
              <a:t>・今日はその左端、Next.js を足す話</a:t>
            </a:r>
          </a:p>
          <a:p/>
          <a:p>
            <a:r>
              <a:t>◆ 今日話すこと・話さないこと</a:t>
            </a:r>
          </a:p>
          <a:p>
            <a:r>
              <a:t>・話す：実装の前に何を決めたか、決めた通りに動いたか</a:t>
            </a:r>
          </a:p>
          <a:p>
            <a:r>
              <a:t>・話さない：Next.js の全機能。1画面作るのに必要な判断だけ</a:t>
            </a:r>
          </a:p>
          <a:p>
            <a:r>
              <a:t>・結果として3画面を作ったので、机上の話ではなく実際に測った数字を出します</a:t>
            </a:r>
          </a:p>
          <a:p/>
          <a:p>
            <a:r>
              <a:t>◆ 一言添える</a:t>
            </a:r>
          </a:p>
          <a:p>
            <a:r>
              <a:t>・先に言っておくと、途中で一度つまずいています。そこが今日の山場（S9）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【1分30秒】全体像</a:t>
            </a:r>
          </a:p>
          <a:p/>
          <a:p>
            <a:r>
              <a:t>◆ 3テーマを読み上げる</a:t>
            </a:r>
          </a:p>
          <a:p>
            <a:r>
              <a:t>・境界＝処理をどこで動かすか</a:t>
            </a:r>
          </a:p>
          <a:p>
            <a:r>
              <a:t>・接続＝API をどう呼ぶか</a:t>
            </a:r>
          </a:p>
          <a:p>
            <a:r>
              <a:t>・画面＝機能をどこまで作るか</a:t>
            </a:r>
          </a:p>
          <a:p/>
          <a:p>
            <a:r>
              <a:t>◆ 右の列（困る時）を強調する</a:t>
            </a:r>
          </a:p>
          <a:p>
            <a:r>
              <a:t>・この3つは、どれも自分が実際に困った／困りかけたこと</a:t>
            </a:r>
          </a:p>
          <a:p>
            <a:r>
              <a:t>・「ページ全体が重くなる」「登録したのに一覧が古いまま」</a:t>
            </a:r>
          </a:p>
          <a:p>
            <a:r>
              <a:t>・「モックを7枚作ったが半分は年に数回しか使わない」</a:t>
            </a:r>
          </a:p>
          <a:p/>
          <a:p>
            <a:r>
              <a:t>◆ 形式の予告</a:t>
            </a:r>
          </a:p>
          <a:p>
            <a:r>
              <a:t>・各テーマ3枚ずつ。なぜ・困る時 → どう対応 → 実例</a:t>
            </a:r>
          </a:p>
          <a:p>
            <a:r>
              <a:t>・前回（第五回）と同じ形式にしています</a:t>
            </a:r>
          </a:p>
          <a:p/>
          <a:p>
            <a:r>
              <a:t>◆ ゴールの確認</a:t>
            </a:r>
          </a:p>
          <a:p>
            <a:r>
              <a:t>・学ぶのは機能ではなく判断</a:t>
            </a:r>
          </a:p>
          <a:p>
            <a:r>
              <a:t>・最後に、自分のアプリで決めることを3つ書き出す時間を取ります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【3分】Next.js はどこにいるか</a:t>
            </a:r>
          </a:p>
          <a:p/>
          <a:p>
            <a:r>
              <a:t>◆ 4層の図を上から順に</a:t>
            </a:r>
          </a:p>
          <a:p>
            <a:r>
              <a:t>・ブラウザ＝画面を見て操作する</a:t>
            </a:r>
          </a:p>
          <a:p>
            <a:r>
              <a:t>・Next.js＝画面を組み立てる。HTTP の入口</a:t>
            </a:r>
          </a:p>
          <a:p>
            <a:r>
              <a:t>・FastAPI＝Phase 3 で作った API</a:t>
            </a:r>
          </a:p>
          <a:p>
            <a:r>
              <a:t>・PostgreSQL＝Phase 2 で作った DB</a:t>
            </a:r>
          </a:p>
          <a:p/>
          <a:p>
            <a:r>
              <a:t>◆ ここが最初の発見</a:t>
            </a:r>
          </a:p>
          <a:p>
            <a:r>
              <a:t>・Next.js を「フロントを作るツール」だと思っていた</a:t>
            </a:r>
          </a:p>
          <a:p>
            <a:r>
              <a:t>・実際はサーバーとしても動く。Node のプロセスが立つ</a:t>
            </a:r>
          </a:p>
          <a:p>
            <a:r>
              <a:t>・npm run dev すると localhost:3000 でサーバーが起動している</a:t>
            </a:r>
          </a:p>
          <a:p/>
          <a:p>
            <a:r>
              <a:t>◆ だから経路が2つできる</a:t>
            </a:r>
          </a:p>
          <a:p>
            <a:r>
              <a:t>・(1) ブラウザ → Next.js（サーバー）→ FastAPI</a:t>
            </a:r>
          </a:p>
          <a:p>
            <a:r>
              <a:t>・(2) ブラウザ → FastAPI に直接</a:t>
            </a:r>
          </a:p>
          <a:p>
            <a:r>
              <a:t>・どちらを選ぶかで、書き方も、ブラウザから見える情報も変わる</a:t>
            </a:r>
          </a:p>
          <a:p/>
          <a:p>
            <a:r>
              <a:t>◆ 今日の1つ目のテーマにつなぐ</a:t>
            </a:r>
          </a:p>
          <a:p>
            <a:r>
              <a:t>・この「どちらで動かすか」が、次の「境界」の話</a:t>
            </a:r>
          </a:p>
          <a:p/>
          <a:p>
            <a:r>
              <a:t>◆ 補足（聞かれたら）</a:t>
            </a:r>
          </a:p>
          <a:p>
            <a:r>
              <a:t>・小さいアプリなら経路は1つでいい。分ける理由があるときだけ分ける</a:t>
            </a:r>
          </a:p>
          <a:p>
            <a:r>
              <a:t>・自分は(1)に統一した。理由は S8 で話します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【2分】境界：なぜ・困る時</a:t>
            </a:r>
          </a:p>
          <a:p/>
          <a:p>
            <a:r>
              <a:t>◆ 表を読む前に一言</a:t>
            </a:r>
          </a:p>
          <a:p>
            <a:r>
              <a:t>・「サーバーコンポーネント」は名前が紛らわしいと思っている</a:t>
            </a:r>
          </a:p>
          <a:p>
            <a:r>
              <a:t>・サーバーでしか動かない、という意味ではない</a:t>
            </a:r>
          </a:p>
          <a:p>
            <a:r>
              <a:t>・本質は右の列＝ブラウザに JavaScript を送るかどうか</a:t>
            </a:r>
          </a:p>
          <a:p/>
          <a:p>
            <a:r>
              <a:t>◆ 表の右列を指す</a:t>
            </a:r>
          </a:p>
          <a:p>
            <a:r>
              <a:t>・サーバー：送らない。HTML を組み立ててから渡す</a:t>
            </a:r>
          </a:p>
          <a:p>
            <a:r>
              <a:t>・クライアント：送る。ブラウザ上で JS が動いて描画する</a:t>
            </a:r>
          </a:p>
          <a:p/>
          <a:p>
            <a:r>
              <a:t>◆ 既定はサーバー</a:t>
            </a:r>
          </a:p>
          <a:p>
            <a:r>
              <a:t>・何も書かなければサーバー</a:t>
            </a:r>
          </a:p>
          <a:p>
            <a:r>
              <a:t>・'use client' と書いた時だけクライアントになる</a:t>
            </a:r>
          </a:p>
          <a:p>
            <a:r>
              <a:t>・この1行で、ブラウザに送るものが変わる</a:t>
            </a:r>
          </a:p>
          <a:p/>
          <a:p>
            <a:r>
              <a:t>◆ 困る例（右下のコード）</a:t>
            </a:r>
          </a:p>
          <a:p>
            <a:r>
              <a:t>・ページの先頭に 'use client' を書いてしまった場合</a:t>
            </a:r>
          </a:p>
          <a:p>
            <a:r>
              <a:t>・配下のコンポーネントが全部クライアント扱いになる</a:t>
            </a:r>
          </a:p>
          <a:p>
            <a:r>
              <a:t>・支出42件の一覧も、ブラウザ側で組み立てることになる</a:t>
            </a:r>
          </a:p>
          <a:p>
            <a:r>
              <a:t>・表示までに往復が増えて、一瞬「空っぽの画面」が見える</a:t>
            </a:r>
          </a:p>
          <a:p/>
          <a:p>
            <a:r>
              <a:t>◆ つなぎ</a:t>
            </a:r>
          </a:p>
          <a:p>
            <a:r>
              <a:t>・ではどこに書けばいいのか、が次の1枚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【2分】境界：どう対応するか</a:t>
            </a:r>
          </a:p>
          <a:p/>
          <a:p>
            <a:r>
              <a:t>◆ 判断は1問だけ、と言い切る</a:t>
            </a:r>
          </a:p>
          <a:p>
            <a:r>
              <a:t>・「ブラウザでしか出来ないことを使うか？」</a:t>
            </a:r>
          </a:p>
          <a:p>
            <a:r>
              <a:t>・Yes ならクライアント、No ならサーバー（＝何も書かない）</a:t>
            </a:r>
          </a:p>
          <a:p/>
          <a:p>
            <a:r>
              <a:t>◆ 左のリストを読む</a:t>
            </a:r>
          </a:p>
          <a:p>
            <a:r>
              <a:t>・onClick / onChange / onSubmit ＝ 操作への反応</a:t>
            </a:r>
          </a:p>
          <a:p>
            <a:r>
              <a:t>・useState ＝ 状態を持つ</a:t>
            </a:r>
          </a:p>
          <a:p>
            <a:r>
              <a:t>・useEffect ＝ 副作用</a:t>
            </a:r>
          </a:p>
          <a:p>
            <a:r>
              <a:t>・localStorage / window / document</a:t>
            </a:r>
          </a:p>
          <a:p/>
          <a:p>
            <a:r>
              <a:t>◆ 原則（右下のボックス）</a:t>
            </a:r>
          </a:p>
          <a:p>
            <a:r>
              <a:t>・'use client' は葉に付ける。根に付けない</a:t>
            </a:r>
          </a:p>
          <a:p>
            <a:r>
              <a:t>・根に付けると配下が全部クライアントになる（S4 の失敗パターン）</a:t>
            </a:r>
          </a:p>
          <a:p/>
          <a:p>
            <a:r>
              <a:t>◆ ここは混同しやすいので丁寧に</a:t>
            </a:r>
          </a:p>
          <a:p>
            <a:r>
              <a:t>・「layout にクライアント部品を置く」のは、根に 'use client' を書くのとは別</a:t>
            </a:r>
          </a:p>
          <a:p>
            <a:r>
              <a:t>・自分のアプリのナビがまさにこれ</a:t>
            </a:r>
          </a:p>
          <a:p>
            <a:r>
              <a:t>・ナビは現在地で色を変えるので usePathname が要る → クライアント</a:t>
            </a:r>
          </a:p>
          <a:p>
            <a:r>
              <a:t>・でも layout に置いても、children の3画面はサーバーのまま</a:t>
            </a:r>
          </a:p>
          <a:p>
            <a:r>
              <a:t>・つまり影響するのは「その部品自身」だけ</a:t>
            </a:r>
          </a:p>
          <a:p/>
          <a:p>
            <a:r>
              <a:t>◆ 今日の一手</a:t>
            </a:r>
          </a:p>
          <a:p>
            <a:r>
              <a:t>・最初に作る画面で、クライアントが必要な部品を1つだけ決める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【2分30秒】境界：実例</a:t>
            </a:r>
          </a:p>
          <a:p/>
          <a:p>
            <a:r>
              <a:t>◆ 上の表：3画面の振り分け</a:t>
            </a:r>
          </a:p>
          <a:p>
            <a:r>
              <a:t>・左がサーバー、右がクライアント</a:t>
            </a:r>
          </a:p>
          <a:p>
            <a:r>
              <a:t>・注目してほしいのは、行が「画面」なのに中身は「部品」で分かれていること</a:t>
            </a:r>
          </a:p>
          <a:p>
            <a:r>
              <a:t>・画面単位ではなく部品単位で決めた</a:t>
            </a:r>
          </a:p>
          <a:p/>
          <a:p>
            <a:r>
              <a:t>◆ 意外だった2つ（聞かれなくても話す）</a:t>
            </a:r>
          </a:p>
          <a:p>
            <a:r>
              <a:t>・カテゴリ別グラフはサーバーのままにできた</a:t>
            </a:r>
          </a:p>
          <a:p>
            <a:r>
              <a:t>  → ライブラリを使わず CSS の width % で棒を描いたので JS が要らなかった</a:t>
            </a:r>
          </a:p>
          <a:p>
            <a:r>
              <a:t>・絞り込みと月の切り替えもサーバーのまま</a:t>
            </a:r>
          </a:p>
          <a:p>
            <a:r>
              <a:t>  → useState ではなく URL に持たせた（/?category=1）ので &lt;Link&gt; の遷移で済む</a:t>
            </a:r>
          </a:p>
          <a:p/>
          <a:p>
            <a:r>
              <a:t>◆ 下の実測表</a:t>
            </a:r>
          </a:p>
          <a:p>
            <a:r>
              <a:t>・ファイル数は サーバー17 / クライアント8</a:t>
            </a:r>
          </a:p>
          <a:p>
            <a:r>
              <a:t>・ホーム画面を開いてブラウザが叩いた API は 0 件</a:t>
            </a:r>
          </a:p>
          <a:p>
            <a:r>
              <a:t>・サーバーが返す HTML に「¥16,640」がそのまま入っている</a:t>
            </a:r>
          </a:p>
          <a:p/>
          <a:p>
            <a:r>
              <a:t>【実演】ここで curl の結果を見せる</a:t>
            </a:r>
          </a:p>
          <a:p>
            <a:r>
              <a:t>・curl http://localhost:3000 | grep 16,640</a:t>
            </a:r>
          </a:p>
          <a:p>
            <a:r>
              <a:t>・ブラウザの Network タブを開いても API 通信が1件も出ないことを見せてもいい</a:t>
            </a:r>
          </a:p>
          <a:p>
            <a:r>
              <a:t>・これが S4 で言った「JS を送らない」の実物</a:t>
            </a:r>
          </a:p>
          <a:p/>
          <a:p>
            <a:r>
              <a:t>◆ 結論</a:t>
            </a:r>
          </a:p>
          <a:p>
            <a:r>
              <a:t>・画面ではなく部品で決める。表示はサーバー、操作はクライアント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【2分】接続：なぜ・困る時</a:t>
            </a:r>
          </a:p>
          <a:p/>
          <a:p>
            <a:r>
              <a:t>◆ 症状から入る</a:t>
            </a:r>
          </a:p>
          <a:p>
            <a:r>
              <a:t>・支出を登録した。DB には入っている。psql で確認できる</a:t>
            </a:r>
          </a:p>
          <a:p>
            <a:r>
              <a:t>・API も 201 を返している</a:t>
            </a:r>
          </a:p>
          <a:p>
            <a:r>
              <a:t>・なのに画面の一覧が古いまま</a:t>
            </a:r>
          </a:p>
          <a:p/>
          <a:p>
            <a:r>
              <a:t>◆ 中央のコードを指す</a:t>
            </a:r>
          </a:p>
          <a:p>
            <a:r>
              <a:t>・よくある書き方。fetch して json にする</a:t>
            </a:r>
          </a:p>
          <a:p>
            <a:r>
              <a:t>・これだけでは、更新後に再取得されるとは限らない</a:t>
            </a:r>
          </a:p>
          <a:p/>
          <a:p>
            <a:r>
              <a:t>◆ 切り分けるべき4点（右のリスト）</a:t>
            </a:r>
          </a:p>
          <a:p>
            <a:r>
              <a:t>・キャッシュされて古い結果が返っているのか</a:t>
            </a:r>
          </a:p>
          <a:p>
            <a:r>
              <a:t>・再取得の指示を出していないだけなのか</a:t>
            </a:r>
          </a:p>
          <a:p>
            <a:r>
              <a:t>・そもそも取得と更新で別の経路を使うべきなのか</a:t>
            </a:r>
          </a:p>
          <a:p>
            <a:r>
              <a:t>・使っているバージョンで既定の動きが変わっていないか</a:t>
            </a:r>
          </a:p>
          <a:p/>
          <a:p>
            <a:r>
              <a:t>◆ 伏線を張る</a:t>
            </a:r>
          </a:p>
          <a:p>
            <a:r>
              <a:t>・最後の1点が今日の山場。ここで自分は一度つまずいた</a:t>
            </a:r>
          </a:p>
          <a:p>
            <a:r>
              <a:t>・その話は2枚あと（S9）でします</a:t>
            </a:r>
          </a:p>
          <a:p/>
          <a:p>
            <a:r>
              <a:t>◆ このテーマの立場</a:t>
            </a:r>
          </a:p>
          <a:p>
            <a:r>
              <a:t>・取得と更新は別の問題として考える必要がある</a:t>
            </a:r>
          </a:p>
          <a:p>
            <a:r>
              <a:t>・同じ fetch でも扱いが違う、というのが次の枚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【3分】接続：どう対応するか</a:t>
            </a:r>
          </a:p>
          <a:p/>
          <a:p>
            <a:r>
              <a:t>◆ 表：経路を分ける</a:t>
            </a:r>
          </a:p>
          <a:p>
            <a:r>
              <a:t>・表示（GET）＝サーバーコンポーネント。async function にして直接 await</a:t>
            </a:r>
          </a:p>
          <a:p>
            <a:r>
              <a:t>・変更（POST/PATCH/DELETE）＝Server Actions。'use server' を書いて、最後に refresh()</a:t>
            </a:r>
          </a:p>
          <a:p/>
          <a:p>
            <a:r>
              <a:t>◆ 左右のコードを対比して見せる</a:t>
            </a:r>
          </a:p>
          <a:p>
            <a:r>
              <a:t>・左：Page が async。await apiGet して、その結果を渡すだけ</a:t>
            </a:r>
          </a:p>
          <a:p>
            <a:r>
              <a:t>・右：'use server' の関数。fetch した後 refresh() を呼ぶ</a:t>
            </a:r>
          </a:p>
          <a:p/>
          <a:p>
            <a:r>
              <a:t>◆ Server Actions を選んだ理由（3つ。ここは自分の判断として話す）</a:t>
            </a:r>
          </a:p>
          <a:p>
            <a:r>
              <a:t>・API の URL がブラウザに出ない。lib/api.ts に server-only を付けてある</a:t>
            </a:r>
          </a:p>
          <a:p>
            <a:r>
              <a:t>・CORS の設定が要らない。ブラウザは Next.js しか叩かないから</a:t>
            </a:r>
          </a:p>
          <a:p>
            <a:r>
              <a:t>・Phase 5 で JWT を HttpOnly Cookie に入れるとき、扱いがサーバー側で完結する</a:t>
            </a:r>
          </a:p>
          <a:p/>
          <a:p>
            <a:r>
              <a:t>◆ 下の実測表を読む</a:t>
            </a:r>
          </a:p>
          <a:p>
            <a:r>
              <a:t>・支出を1件登録した前後。ページ遷移はしていない</a:t>
            </a:r>
          </a:p>
          <a:p>
            <a:r>
              <a:t>・合計 ¥20,288 → ¥22,868、件数 9 → 10</a:t>
            </a:r>
          </a:p>
          <a:p>
            <a:r>
              <a:t>・外食カテゴリ ¥2,800（1件）→ ¥5,380（2件）</a:t>
            </a:r>
          </a:p>
          <a:p>
            <a:r>
              <a:t>・送金額 ¥1,896 → ¥3,186</a:t>
            </a:r>
          </a:p>
          <a:p>
            <a:r>
              <a:t>・ブラウザの API 呼び出しは前後とも 0</a:t>
            </a:r>
          </a:p>
          <a:p/>
          <a:p>
            <a:r>
              <a:t>◆ ここが言いたいこと</a:t>
            </a:r>
          </a:p>
          <a:p>
            <a:r>
              <a:t>・集計・グラフ・一覧・送金額が同時に更新されている</a:t>
            </a:r>
          </a:p>
          <a:p>
            <a:r>
              <a:t>・個別に取り直すコードは1行も書いていない。refresh() 1行だけ</a:t>
            </a:r>
          </a:p>
          <a:p/>
          <a:p>
            <a:r>
              <a:t>【実演】余裕があれば実際に登録して見せる</a:t>
            </a:r>
          </a:p>
          <a:p>
            <a:r>
              <a:t>・表の数字は測定したときの記録なので、その場で実演すると今の値から動きます</a:t>
            </a:r>
          </a:p>
          <a:p>
            <a:r>
              <a:t>・見せ方：合計と件数を読み上げてから登録 → 数字が一斉に変わるのを指す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【2分30秒】接続：実例（今日一番伝えたい話）</a:t>
            </a:r>
          </a:p>
          <a:p/>
          <a:p>
            <a:r>
              <a:t>◆ 何が起きたか</a:t>
            </a:r>
          </a:p>
          <a:p>
            <a:r>
              <a:t>・検索で出てきた記事を見ながら書こうとした</a:t>
            </a:r>
          </a:p>
          <a:p>
            <a:r>
              <a:t>・記事どうしで書き方が食い違っていた</a:t>
            </a:r>
          </a:p>
          <a:p>
            <a:r>
              <a:t>・調べたら、バージョンで作法が変わっていた</a:t>
            </a:r>
          </a:p>
          <a:p/>
          <a:p>
            <a:r>
              <a:t>◆ 表を読む（左が記事、右が実際）</a:t>
            </a:r>
          </a:p>
          <a:p>
            <a:r>
              <a:t>・fetch のキャッシュ：既定でキャッシュされる → されない</a:t>
            </a:r>
          </a:p>
          <a:p>
            <a:r>
              <a:t>・キャッシュ回避：no-store を明示 → 不要</a:t>
            </a:r>
          </a:p>
          <a:p>
            <a:r>
              <a:t>・更新後の反映：router.refresh() をクライアントで → refresh() を Server Action 内で</a:t>
            </a:r>
          </a:p>
          <a:p>
            <a:r>
              <a:t>・変更処理：クライアントから fetch(POST) → Server Actions</a:t>
            </a:r>
          </a:p>
          <a:p/>
          <a:p>
            <a:r>
              <a:t>◆ 決め手になったもの（右のコード）</a:t>
            </a:r>
          </a:p>
          <a:p>
            <a:r>
              <a:t>・npm run dev したら AGENTS.md というファイルが勝手に生成されていた</a:t>
            </a:r>
          </a:p>
          <a:p>
            <a:r>
              <a:t>・中身を読む：「This is NOT the Next.js you know」</a:t>
            </a:r>
          </a:p>
          <a:p>
            <a:r>
              <a:t>・「訓練データと違うかもしれない。node_modules の中のドキュメントを読め」</a:t>
            </a:r>
          </a:p>
          <a:p>
            <a:r>
              <a:t>・フレームワーク自身がバージョン差の問題を認めている</a:t>
            </a:r>
          </a:p>
          <a:p/>
          <a:p>
            <a:r>
              <a:t>【実演】実物を見せる</a:t>
            </a:r>
          </a:p>
          <a:p>
            <a:r>
              <a:t>・cat frontend/AGENTS.md</a:t>
            </a:r>
          </a:p>
          <a:p/>
          <a:p>
            <a:r>
              <a:t>◆ 読んだ結果わかったこと</a:t>
            </a:r>
          </a:p>
          <a:p>
            <a:r>
              <a:t>・ドキュメントが node_modules に同梱されている</a:t>
            </a:r>
          </a:p>
          <a:p>
            <a:r>
              <a:t>・動的ルートの params が Promise になっていた（await が要る）</a:t>
            </a:r>
          </a:p>
          <a:p>
            <a:r>
              <a:t>・記事のまま書いていたら動かないコードになっていた</a:t>
            </a:r>
          </a:p>
          <a:p/>
          <a:p>
            <a:r>
              <a:t>◆ 結論</a:t>
            </a:r>
          </a:p>
          <a:p>
            <a:r>
              <a:t>・バージョンを確認して、公式を一次情報にする。記事は補助</a:t>
            </a:r>
          </a:p>
          <a:p>
            <a:r>
              <a:t>・これは Next.js に限らず、他のライブラリでも同じだと思う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【2分】画面：なぜ・困る時</a:t>
            </a:r>
          </a:p>
          <a:p/>
          <a:p>
            <a:r>
              <a:t>◆ 最初に範囲を断る</a:t>
            </a:r>
          </a:p>
          <a:p>
            <a:r>
              <a:t>・ここは「どのページを作るか」の話</a:t>
            </a:r>
          </a:p>
          <a:p>
            <a:r>
              <a:t>・コンポーネントをどう分けるか（Feature-based など）は Phase 4 後半のテーマ</a:t>
            </a:r>
          </a:p>
          <a:p/>
          <a:p>
            <a:r>
              <a:t>◆ 経緯</a:t>
            </a:r>
          </a:p>
          <a:p>
            <a:r>
              <a:t>・設計フェーズでモックを7枚作った</a:t>
            </a:r>
          </a:p>
          <a:p>
            <a:r>
              <a:t>・実装量を見積もったら 12〜16 時間だった</a:t>
            </a:r>
          </a:p>
          <a:p>
            <a:r>
              <a:t>・多いと思って、使用頻度を書き出してみた</a:t>
            </a:r>
          </a:p>
          <a:p/>
          <a:p>
            <a:r>
              <a:t>◆ 表の真ん中の列を指す</a:t>
            </a:r>
          </a:p>
          <a:p>
            <a:r>
              <a:t>・ダッシュボード：毎日</a:t>
            </a:r>
          </a:p>
          <a:p>
            <a:r>
              <a:t>・支出一覧：週1〜月1</a:t>
            </a:r>
          </a:p>
          <a:p>
            <a:r>
              <a:t>・月次清算：月1</a:t>
            </a:r>
          </a:p>
          <a:p>
            <a:r>
              <a:t>・PayPay 取り込み：週1〜月1</a:t>
            </a:r>
          </a:p>
          <a:p>
            <a:r>
              <a:t>・カテゴリ管理：年に数回</a:t>
            </a:r>
          </a:p>
          <a:p>
            <a:r>
              <a:t>・アカウントメニュー：ほぼ使わない</a:t>
            </a:r>
          </a:p>
          <a:p/>
          <a:p>
            <a:r>
              <a:t>◆ 気づき</a:t>
            </a:r>
          </a:p>
          <a:p>
            <a:r>
              <a:t>・半分は年に数回しか使わない画面だった</a:t>
            </a:r>
          </a:p>
          <a:p>
            <a:r>
              <a:t>・設計しているときは全部必要に見えていた</a:t>
            </a:r>
          </a:p>
          <a:p>
            <a:r>
              <a:t>・使用頻度を書き出すまで気づかなかった</a:t>
            </a:r>
          </a:p>
          <a:p/>
          <a:p>
            <a:r>
              <a:t>◆ 問題提起</a:t>
            </a:r>
          </a:p>
          <a:p>
            <a:r>
              <a:t>・作る前に「作らないもの」を決めないと、使われない画面に時間を使う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【1分30秒】画面：どう対応するか</a:t>
            </a:r>
          </a:p>
          <a:p/>
          <a:p>
            <a:r>
              <a:t>◆ 3問を読み上げる</a:t>
            </a:r>
          </a:p>
          <a:p>
            <a:r>
              <a:t>・その画面を週1回以上使うか</a:t>
            </a:r>
          </a:p>
          <a:p>
            <a:r>
              <a:t>・他の画面に入れられないか</a:t>
            </a:r>
          </a:p>
          <a:p>
            <a:r>
              <a:t>・その画面が無いと運用が止まるか</a:t>
            </a:r>
          </a:p>
          <a:p/>
          <a:p>
            <a:r>
              <a:t>◆ 表の使い方</a:t>
            </a:r>
          </a:p>
          <a:p>
            <a:r>
              <a:t>・No が多いほど、独立した画面にする必要がない</a:t>
            </a:r>
          </a:p>
          <a:p>
            <a:r>
              <a:t>・No が3つなら作らない</a:t>
            </a:r>
          </a:p>
          <a:p/>
          <a:p>
            <a:r>
              <a:t>◆ ここが一番大事（中央のボックス）</a:t>
            </a:r>
          </a:p>
          <a:p>
            <a:r>
              <a:t>・機能を消すのではなく、画面を作らない</a:t>
            </a:r>
          </a:p>
          <a:p>
            <a:r>
              <a:t>・API とカラムは残したまま、UI だけ作らない</a:t>
            </a:r>
          </a:p>
          <a:p>
            <a:r>
              <a:t>・必要になったら画面を足すだけで済む</a:t>
            </a:r>
          </a:p>
          <a:p/>
          <a:p>
            <a:r>
              <a:t>◆ 自分の例で補足</a:t>
            </a:r>
          </a:p>
          <a:p>
            <a:r>
              <a:t>・カテゴリの API は Phase 3 で4本作ってある</a:t>
            </a:r>
          </a:p>
          <a:p>
            <a:r>
              <a:t>・is_archived カラムもある</a:t>
            </a:r>
          </a:p>
          <a:p>
            <a:r>
              <a:t>・でも管理画面は作らなかった。追加は入力欄の「+ 新規」で足りる</a:t>
            </a:r>
          </a:p>
          <a:p/>
          <a:p>
            <a:r>
              <a:t>◆ 今日の一手</a:t>
            </a:r>
          </a:p>
          <a:p>
            <a:r>
              <a:t>・自分のモックで、使用頻度が一番低い画面を1つ挙げる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【2分】画面：実例</a:t>
            </a:r>
          </a:p>
          <a:p/>
          <a:p>
            <a:r>
              <a:t>◆ 表を上から</a:t>
            </a:r>
          </a:p>
          <a:p>
            <a:r>
              <a:t>・ダッシュボード → 残す（ホームに改称）</a:t>
            </a:r>
          </a:p>
          <a:p>
            <a:r>
              <a:t>・支出一覧 → ホームに統合</a:t>
            </a:r>
          </a:p>
          <a:p>
            <a:r>
              <a:t>・月次清算、PayPay 取り込み → 残す（核心機能）</a:t>
            </a:r>
          </a:p>
          <a:p>
            <a:r>
              <a:t>・カテゴリ管理 → 廃止</a:t>
            </a:r>
          </a:p>
          <a:p>
            <a:r>
              <a:t>・ログイン → Phase 5 に送る（認証が前提なので）</a:t>
            </a:r>
          </a:p>
          <a:p>
            <a:r>
              <a:t>・アカウントメニュー → 廃止</a:t>
            </a:r>
          </a:p>
          <a:p/>
          <a:p>
            <a:r>
              <a:t>◆ 廃止した機能の行き先（左下）</a:t>
            </a:r>
          </a:p>
          <a:p>
            <a:r>
              <a:t>・消したのではなく、置き場所を変えただけだと伝える</a:t>
            </a:r>
          </a:p>
          <a:p>
            <a:r>
              <a:t>・支出一覧 → ホーム下部。編集は行内で直接</a:t>
            </a:r>
          </a:p>
          <a:p>
            <a:r>
              <a:t>・カテゴリ追加 → 入力欄の「+ 新規」</a:t>
            </a:r>
          </a:p>
          <a:p>
            <a:r>
              <a:t>・並び替え・アーカイブ → 作らない（API は残っている）</a:t>
            </a:r>
          </a:p>
          <a:p/>
          <a:p>
            <a:r>
              <a:t>◆ 得たもの</a:t>
            </a:r>
          </a:p>
          <a:p>
            <a:r>
              <a:t>・実装が概ね半分になった</a:t>
            </a:r>
          </a:p>
          <a:p>
            <a:r>
              <a:t>・Phase 5（認証）に早く進める</a:t>
            </a:r>
          </a:p>
          <a:p/>
          <a:p>
            <a:r>
              <a:t>◆ 代償も正直に話す</a:t>
            </a:r>
          </a:p>
          <a:p>
            <a:r>
              <a:t>・カテゴリの並び替えが UI からできない</a:t>
            </a:r>
          </a:p>
          <a:p>
            <a:r>
              <a:t>・モックを作り直す手間が発生した。PC 版とスマホ版で6枚</a:t>
            </a:r>
          </a:p>
          <a:p>
            <a:r>
              <a:t>・ただ、実装前に気づけたので手戻りは小さかった</a:t>
            </a:r>
          </a:p>
          <a:p/>
          <a:p>
            <a:r>
              <a:t>◆ 結論</a:t>
            </a:r>
          </a:p>
          <a:p>
            <a:r>
              <a:t>・使用頻度で切る。API を残しておけば後から画面を足せる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【3分】ワーク</a:t>
            </a:r>
          </a:p>
          <a:p/>
          <a:p>
            <a:r>
              <a:t>◆ 進め方を先に言う</a:t>
            </a:r>
          </a:p>
          <a:p>
            <a:r>
              <a:t>・3分取ります。手元のモックかコードを開いてください</a:t>
            </a:r>
          </a:p>
          <a:p>
            <a:r>
              <a:t>・3つを1行ずつ書く。書けたら1つだけ共有してもらいます（パスも可）</a:t>
            </a:r>
          </a:p>
          <a:p/>
          <a:p>
            <a:r>
              <a:t>◆ 3問を読み上げる</a:t>
            </a:r>
          </a:p>
          <a:p>
            <a:r>
              <a:t>・境界：最初に作る画面で 'use client' が必要な部品を1つ挙げる</a:t>
            </a:r>
          </a:p>
          <a:p>
            <a:r>
              <a:t>・接続：更新後に画面を更新する手段を決めたか。使う関数名を1つ書く</a:t>
            </a:r>
          </a:p>
          <a:p>
            <a:r>
              <a:t>・画面：作らないと決めた画面はあるか。1つ挙げる。無ければ「なし」</a:t>
            </a:r>
          </a:p>
          <a:p/>
          <a:p>
            <a:r>
              <a:t>◆ まだコードがない人へ（右下）</a:t>
            </a:r>
          </a:p>
          <a:p>
            <a:r>
              <a:t>・紙に書くだけでいい</a:t>
            </a:r>
          </a:p>
          <a:p>
            <a:r>
              <a:t>・作る予定の画面で、どこをクライアントにするか／どう更新するか／作らない画面はどれか</a:t>
            </a:r>
          </a:p>
          <a:p/>
          <a:p>
            <a:r>
              <a:t>◆ 時間を計る</a:t>
            </a:r>
          </a:p>
          <a:p>
            <a:r>
              <a:t>・3分経ったら声をかける</a:t>
            </a:r>
          </a:p>
          <a:p>
            <a:r>
              <a:t>・巡回して詰まっている人がいたら、自分の例を出して助ける</a:t>
            </a:r>
          </a:p>
          <a:p>
            <a:r>
              <a:t>  例：自分は「入力フォーム」「refresh()」「カテゴリ管理画面」と書いた</a:t>
            </a:r>
          </a:p>
          <a:p/>
          <a:p>
            <a:r>
              <a:t>◆ 共有のとき</a:t>
            </a:r>
          </a:p>
          <a:p>
            <a:r>
              <a:t>・1人1つでいい。全員に当てない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【1分30秒】まとめ</a:t>
            </a:r>
          </a:p>
          <a:p/>
          <a:p>
            <a:r>
              <a:t>◆ 3つを振り返る</a:t>
            </a:r>
          </a:p>
          <a:p>
            <a:r>
              <a:t>・境界：既定はサーバー。操作がある部品だけ 'use client'</a:t>
            </a:r>
          </a:p>
          <a:p>
            <a:r>
              <a:t>・接続：表示は await、変更は Server Actions。更新後に refresh()</a:t>
            </a:r>
          </a:p>
          <a:p>
            <a:r>
              <a:t>・画面：使用頻度が低い画面は作らない。API は残しておく</a:t>
            </a:r>
          </a:p>
          <a:p/>
          <a:p>
            <a:r>
              <a:t>◆ ここを強調する</a:t>
            </a:r>
          </a:p>
          <a:p>
            <a:r>
              <a:t>・3つ全部やろうとしないでほしい</a:t>
            </a:r>
          </a:p>
          <a:p>
            <a:r>
              <a:t>・決めた1つだけ、明日やる</a:t>
            </a:r>
          </a:p>
          <a:p/>
          <a:p>
            <a:r>
              <a:t>◆ 副産物</a:t>
            </a:r>
          </a:p>
          <a:p>
            <a:r>
              <a:t>・バージョンを確認して公式を読む。記事は補助に使う</a:t>
            </a:r>
          </a:p>
          <a:p>
            <a:r>
              <a:t>・Next.js 以外でも効く話だと思う</a:t>
            </a:r>
          </a:p>
          <a:p/>
          <a:p>
            <a:r>
              <a:t>◆ 締め</a:t>
            </a:r>
          </a:p>
          <a:p>
            <a:r>
              <a:t>・次回は Phase 4 後半、コンポーネント設計と UI ライブラリ</a:t>
            </a:r>
          </a:p>
          <a:p>
            <a:r>
              <a:t>・質問があれば</a:t>
            </a:r>
          </a:p>
          <a:p/>
          <a:p>
            <a:r>
              <a:t>◆ 想定質問への備え</a:t>
            </a:r>
          </a:p>
          <a:p>
            <a:r>
              <a:t>・「shadcn/ui は使わないのか」</a:t>
            </a:r>
          </a:p>
          <a:p>
            <a:r>
              <a:t>  → 今回は入れなかった。3画面で汎用部品が出てこなかったから。後半のテーマ</a:t>
            </a:r>
          </a:p>
          <a:p>
            <a:r>
              <a:t>・「型は生成しないのか」</a:t>
            </a:r>
          </a:p>
          <a:p>
            <a:r>
              <a:t>  → OpenAPI からの生成も検討したが、型が10個程度だったので手書きにした</a:t>
            </a:r>
          </a:p>
          <a:p>
            <a:r>
              <a:t>・「なぜ Server Actions？普通に fetch ではだめ？」</a:t>
            </a:r>
          </a:p>
          <a:p>
            <a:r>
              <a:t>  → S8 の3つの理由。特に Phase 5 の Cookie 認証を見据えて</a:t>
            </a:r>
          </a:p>
          <a:p>
            <a:r>
              <a:t>・「エラーはどう出している？」</a:t>
            </a:r>
          </a:p>
          <a:p>
            <a:r>
              <a:t>  → 422 は detail[].loc[1] を見て該当フィールドの下に日本語で出している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1060704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Arial"/>
              </a:rPr>
              <a:t>Phase 4 前半</a:t>
            </a:r>
            <a:r>
              <a:rPr sz="1100" b="0">
                <a:solidFill>
                  <a:srgbClr val="9CA3AF"/>
                </a:solidFill>
                <a:latin typeface="Arial"/>
              </a:rPr>
              <a:t>　｜　フロントエンド（Next.js・API接続）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89888"/>
            <a:ext cx="7863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Next.js と API 接続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900" b="0">
                <a:solidFill>
                  <a:srgbClr val="D1D5DB"/>
                </a:solidFill>
                <a:latin typeface="Arial"/>
              </a:rPr>
              <a:t>― 決めてから、作って確かめた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2542032"/>
            <a:ext cx="3931920" cy="0"/>
          </a:xfrm>
          <a:prstGeom prst="line">
            <a:avLst/>
          </a:prstGeom>
          <a:ln w="1524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697480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CA3AF"/>
                </a:solidFill>
                <a:latin typeface="Arial"/>
              </a:rPr>
              <a:t>2026-08-19 ｜ 30分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27248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今日のトピック： </a:t>
            </a:r>
            <a:r>
              <a:rPr sz="1300" b="1">
                <a:solidFill>
                  <a:srgbClr val="FBBF24"/>
                </a:solidFill>
                <a:latin typeface="Arial"/>
              </a:rPr>
              <a:t>境界 / 接続 / 画面</a:t>
            </a:r>
            <a:r>
              <a:rPr sz="1300" b="0">
                <a:solidFill>
                  <a:srgbClr val="D1D5DB"/>
                </a:solidFill>
                <a:latin typeface="Arial"/>
              </a:rPr>
              <a:t> の3つの判断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ゴール： </a:t>
            </a:r>
            <a:r>
              <a:rPr sz="1300" b="0">
                <a:solidFill>
                  <a:srgbClr val="D1D5DB"/>
                </a:solidFill>
                <a:latin typeface="Arial"/>
              </a:rPr>
              <a:t>「境界・接続・画面」を自分のアプリでどうするか、自分で判断できるようになる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41648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Arial"/>
              </a:rPr>
              <a:t>ブラウザ  →  Next.js  →  FastAPI  →  PostgreSQL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Arial"/>
              </a:rPr>
              <a:t>Phase 3 で右の3つを作った。今日はその左端を足す話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全体像 ｜ 今日の3テーマ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学ぶこととゴール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3つとも学ぶのは「判断」。答えはこの後で出す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89888"/>
          <a:ext cx="8229600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05840"/>
                <a:gridCol w="2286000"/>
                <a:gridCol w="4937760"/>
              </a:tblGrid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テーマ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学ぶ判断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こういう時に困る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563EB"/>
                          </a:solidFill>
                          <a:latin typeface="Arial"/>
                        </a:rPr>
                        <a:t>境界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処理を
どこで動かすか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ページ全体が重くなり、表示前に空の画面が見える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059669"/>
                          </a:solidFill>
                          <a:latin typeface="Arial"/>
                        </a:rPr>
                        <a:t>接続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API を
どう呼ぶか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登録したのに、一覧が古いまま変わらない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A580C"/>
                          </a:solidFill>
                          <a:latin typeface="Arial"/>
                        </a:rPr>
                        <a:t>画面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機能を
どこまで作るか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モックを7枚作ったが、半分は年に数回しか使わない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310128"/>
            <a:ext cx="8229600" cy="56692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85216" y="3401568"/>
            <a:ext cx="7973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今日の立場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今日は Next.js の全機能ではなく、画面を1つ作るときに必要な判断だけを扱う。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5993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1827"/>
                </a:solidFill>
                <a:latin typeface="Arial"/>
              </a:rPr>
              <a:t>ゴール： </a:t>
            </a:r>
            <a:r>
              <a:rPr sz="1150" b="0">
                <a:solidFill>
                  <a:srgbClr val="111827"/>
                </a:solidFill>
                <a:latin typeface="Arial"/>
              </a:rPr>
              <a:t>「境界・接続・画面」を自分のアプリでどうするか、自分で判断できるようになる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そのために最後に、自分のアプリで決めることを3つ書き出す時間を取る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ARCHITECTURE ｜ 3分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Next.js はどこにいるか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Phase 3 で作った層の左に、もう1つ層が乗る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3703320" cy="56692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3504" y="153619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Arial"/>
              </a:rPr>
              <a:t>ブラウザ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画面を見る・操作する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39696"/>
            <a:ext cx="370332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3504" y="2231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Next.js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D1D5DB"/>
                </a:solidFill>
                <a:latin typeface="Arial"/>
              </a:rPr>
              <a:t>画面を組み立てる／HTTP の入口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39"/>
            <a:ext cx="3703320" cy="5669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" y="2926079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FastAPI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D1D5DB"/>
                </a:solidFill>
                <a:latin typeface="Arial"/>
              </a:rPr>
              <a:t>API（Phase 3 で作った）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9583"/>
            <a:ext cx="3703320" cy="566928"/>
          </a:xfrm>
          <a:prstGeom prst="rect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3504" y="362102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PostgreSQL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D1D5DB"/>
                </a:solidFill>
                <a:latin typeface="Arial"/>
              </a:rPr>
              <a:t>永続化（Phase 2 で作った）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481328"/>
            <a:ext cx="82296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45152" y="1444752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Next.js は「画面を作るツール」だけではなく、サーバーとしても動く。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139696"/>
            <a:ext cx="82296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45152" y="2103120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だから API を呼ぶ経路が2つできる。Next.js から呼ぶか、ブラウザから直接呼ぶか。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2798063"/>
            <a:ext cx="82296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45152" y="2761487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どちらで呼ぶかで、書き方も見え方も変わる。これが今日の1つ目「境界」の話。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456431"/>
            <a:ext cx="82296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45152" y="3419855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小さいアプリなら経路は1つでよい。分ける理由があるときだけ分ける。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境界 ｜ サーバーとクライアント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なぜ・困る時：ページ全体が重くなった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98448"/>
          <a:ext cx="8229599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3749039"/>
                <a:gridCol w="274320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意味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ブラウザに JavaScript を送るか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11827"/>
                          </a:solidFill>
                          <a:latin typeface="Arial"/>
                        </a:rPr>
                        <a:t>サーバー
コンポーネント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サーバーで HTML を組み立ててから送る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送らない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11827"/>
                          </a:solidFill>
                          <a:latin typeface="Arial"/>
                        </a:rPr>
                        <a:t>クライアント
コンポーネント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ブラウザ上で JavaScript が動いて描画する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送る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761488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なぜ必要か： </a:t>
            </a:r>
            <a:r>
              <a:rPr sz="1050" b="0">
                <a:solidFill>
                  <a:srgbClr val="111827"/>
                </a:solidFill>
                <a:latin typeface="Arial"/>
              </a:rPr>
              <a:t>既定はサーバー。'use client' と書いた時だけクライアントになる。この1行で、送るものが変わる。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54096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こういう時に困る： </a:t>
            </a:r>
            <a:r>
              <a:rPr sz="1050" b="0">
                <a:solidFill>
                  <a:srgbClr val="111827"/>
                </a:solidFill>
                <a:latin typeface="Arial"/>
              </a:rPr>
              <a:t>ページの先頭に 'use client' を書いた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・配下のコンポーネントが全部クライアントになる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・支出42件の一覧も、ブラウザ側で組み立てることになる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・表示までに4往復。一瞬「空っぽの画面」が見える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3054096"/>
            <a:ext cx="3931920" cy="132130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55464" y="3154679"/>
            <a:ext cx="3730752" cy="1120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CA3AF"/>
                </a:solidFill>
                <a:latin typeface="Courier New"/>
              </a:rPr>
              <a:t>app/expenses/page.tsx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CA5A5"/>
                </a:solidFill>
                <a:latin typeface="Courier New"/>
              </a:rPr>
              <a:t>'use client'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export default function Page()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  // ここから下は全部クライアント扱い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  return &lt;ExpenseList items={...} /&gt;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境界 ｜ サーバーとクライアント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どう対応するか：判断は1問だけ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6736"/>
            <a:ext cx="8229600" cy="475488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85216" y="1408176"/>
            <a:ext cx="7973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563EB"/>
                </a:solidFill>
                <a:latin typeface="Arial"/>
              </a:rPr>
              <a:t>ブラウザでしか出来ないことを使うか？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1827"/>
                </a:solidFill>
                <a:latin typeface="Arial"/>
              </a:rPr>
              <a:t>「ブラウザでしか出来ないこと」とは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・onClick / onChange / onSubmit（操作への反応）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・useState / useReducer（状態を持つ）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・useEffect（副作用）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・localStorage / window / document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956816"/>
          <a:ext cx="4023360" cy="8778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310896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答え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どうする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1182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クライアント（'use client' を書く）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1182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サーバー（既定。何も書かない）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663440" y="2889504"/>
            <a:ext cx="4023360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91455" y="2980944"/>
            <a:ext cx="376732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11827"/>
                </a:solidFill>
                <a:latin typeface="Arial"/>
              </a:rPr>
              <a:t>原則： 'use client' は葉に付ける。根に付けない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ページ（根）に 'use client' を書くと配下が全部クライアントになる。ただし layout の中にクライアント部品を「置く」のは別。その部品だけがクライアントで、children はサーバーのまま。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01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今日の一手： </a:t>
            </a:r>
            <a:r>
              <a:rPr sz="1050" b="0">
                <a:solidFill>
                  <a:srgbClr val="111827"/>
                </a:solidFill>
                <a:latin typeface="Arial"/>
              </a:rPr>
              <a:t>最初に作る画面で、クライアントが必要な部品を1つだけ決める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2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3504" y="3995928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既定はサーバー。操作がある部品だけをクライアントに切り出す。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境界 ｜ サーバーとクライアント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対応の実例：作って測ってみた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3画面を実装した結果。クライアントにしたのは「操作がある部品」だけ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89888"/>
          <a:ext cx="8229600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3566160"/>
                <a:gridCol w="310896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画面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サーバー（表示だけ）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クライアント（操作がある）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ホーム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集計・カテゴリ別グラフ・支出一覧・ページ送り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入力フォーム・絞り込み・行内編集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月次清算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集計・送金額・内訳・月ナビ・過去履歴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「確認する」ボタン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PayPay 取り込み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未判定の一覧・判定済み履歴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CSV 選択・1行ごとの判定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977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3画面を作り終えた時点の内訳と、ホーム画面での計測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17520"/>
          <a:ext cx="5029200" cy="969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011680"/>
              </a:tblGrid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計測項目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結果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ファイル数（サーバー / クライアント）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563EB"/>
                          </a:solidFill>
                          <a:latin typeface="Arial"/>
                        </a:rPr>
                        <a:t>17 / 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ブラウザから叩いた API の数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563EB"/>
                          </a:solidFill>
                          <a:latin typeface="Arial"/>
                        </a:rPr>
                        <a:t>0 件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サーバーが返す HTML に「¥ 16,640」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563EB"/>
                          </a:solidFill>
                          <a:latin typeface="Arial"/>
                        </a:rPr>
                        <a:t>含まれる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0" y="301752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つまり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ブラウザは API を1回も呼んでいないのに、データが表示されている。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クライアントにしたのは入力・絞り込み・ボタンなど「操作がある部品」8つだけ。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24528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" y="4306824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画面ではなく部品で決める。表示はサーバー、操作はクライアント。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接続 ｜ データの取得と更新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なぜ・困る時：登録したのに一覧が変わらない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なぜ必要か： </a:t>
            </a:r>
            <a:r>
              <a:rPr sz="1050" b="0">
                <a:solidFill>
                  <a:srgbClr val="111827"/>
                </a:solidFill>
                <a:latin typeface="Arial"/>
              </a:rPr>
              <a:t>取得と更新は別の問題として考える必要がある。同じ fetch でも、扱いが違う。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91056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こういう時に困る： </a:t>
            </a:r>
            <a:r>
              <a:rPr sz="1050" b="0">
                <a:solidFill>
                  <a:srgbClr val="111827"/>
                </a:solidFill>
                <a:latin typeface="Arial"/>
              </a:rPr>
              <a:t>支出を登録した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・DB には入っている（psql で確認できる）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・API も 201 を返している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・でも画面の一覧は古いまま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591056"/>
            <a:ext cx="3931920" cy="116128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55464" y="1691640"/>
            <a:ext cx="373075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CA3AF"/>
                </a:solidFill>
                <a:latin typeface="Courier New"/>
              </a:rPr>
              <a:t>よくある書き方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const res = await fetch(url)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const data = await res.json()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CA3AF"/>
                </a:solidFill>
                <a:latin typeface="Courier New"/>
              </a:rPr>
              <a:t>これだけでは、更新後に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CA3AF"/>
                </a:solidFill>
                <a:latin typeface="Courier New"/>
              </a:rPr>
              <a:t>再取得されるとは限らない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88336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1827"/>
                </a:solidFill>
                <a:latin typeface="Arial"/>
              </a:rPr>
              <a:t>この症状から切り分けるべきこと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・キャッシュされていて古い結果が返っているのか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・再取得の指示を出していないだけなのか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・そもそも取得と更新で別の経路を使うべきなのか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・（使っているバージョンで、既定の動きが変わっていないか）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13632"/>
            <a:ext cx="8229600" cy="475488"/>
          </a:xfrm>
          <a:prstGeom prst="rect">
            <a:avLst/>
          </a:prstGeom>
          <a:solidFill>
            <a:srgbClr val="FEFCE8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4005072"/>
            <a:ext cx="7973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13F12"/>
                </a:solidFill>
                <a:latin typeface="Arial"/>
              </a:rPr>
              <a:t>最後の1点が今日の山場。ここで一度つまずいた。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接続 ｜ データの取得と更新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どう対応するか：取得と更新で経路を分ける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98448"/>
          <a:ext cx="8229600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2377440"/>
                <a:gridCol w="347472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操作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経路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書き方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表示（GET）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サーバーコンポーネント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async function にして直接 await する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変更（POST / PATCH / DELETE）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Server Actions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'use server' を書き、最後に refresh() を呼ぶ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249424"/>
            <a:ext cx="4023360" cy="9326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57784" y="2350008"/>
            <a:ext cx="382219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CA3AF"/>
                </a:solidFill>
                <a:latin typeface="Courier New"/>
              </a:rPr>
              <a:t>表示：サーバーコンポーネント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export default async function Page()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  const data = await apiGet('/api/expenses/')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  return &lt;ExpenseList items={data.items} /&gt;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2249424"/>
            <a:ext cx="3931920" cy="107899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55464" y="2350008"/>
            <a:ext cx="373075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CA3AF"/>
                </a:solidFill>
                <a:latin typeface="Courier New"/>
              </a:rPr>
              <a:t>変更：Server Actions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6EFAC"/>
                </a:solidFill>
                <a:latin typeface="Courier New"/>
              </a:rPr>
              <a:t>'use server'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export async function createExpense(fd)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  await fetch(API + '/api/expenses/', {...})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6EFAC"/>
                </a:solidFill>
                <a:latin typeface="Courier New"/>
              </a:rPr>
              <a:t>  refresh()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3697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実際に支出を1件登録したときの変化（ページ遷移なし）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74720"/>
          <a:ext cx="8229600" cy="7132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1371600"/>
                <a:gridCol w="822960"/>
                <a:gridCol w="1737360"/>
                <a:gridCol w="1188720"/>
                <a:gridCol w="219456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合計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件数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外食カテゴリ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送金額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ブラウザのAPI呼び出し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送信前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¥20,288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9 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¥2,800（1件）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¥1,896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送信後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059669"/>
                          </a:solidFill>
                          <a:latin typeface="Arial"/>
                        </a:rPr>
                        <a:t>¥22,868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059669"/>
                          </a:solidFill>
                          <a:latin typeface="Arial"/>
                        </a:rPr>
                        <a:t>10 件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059669"/>
                          </a:solidFill>
                          <a:latin typeface="Arial"/>
                        </a:rPr>
                        <a:t>¥5,380（2件）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059669"/>
                          </a:solidFill>
                          <a:latin typeface="Arial"/>
                        </a:rPr>
                        <a:t>¥3,186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11182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187952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集計・グラフ・一覧が同時に更新される。個別に取り直すコードは書いていない（refresh() 1行だけ）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25696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3504" y="4507992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表示はサーバーで await、変更は Server Actions。更新後は refresh()。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接続 ｜ データの取得と更新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対応の実例：調べたら記事と違っていた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条件： </a:t>
            </a:r>
            <a:r>
              <a:rPr sz="1050" b="0">
                <a:solidFill>
                  <a:srgbClr val="111827"/>
                </a:solidFill>
                <a:latin typeface="Arial"/>
              </a:rPr>
              <a:t>検索で出てきた記事を見ながら書こうとした。書き方が記事どうしで食い違っていた。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8229600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0240"/>
                <a:gridCol w="3200400"/>
                <a:gridCol w="310896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項目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記事に多い情報（13〜14）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実際（16.3.1）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fetch のキャッシュ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既定でキャッシュされる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キャッシュされない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キャッシュ回避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{ cache: 'no-store' } を明示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不要（既定がその動き）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更新後の画面反映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router.refresh() をクライアントで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refresh() を Server Action 内で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変更処理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クライアントから fetch(POST)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Server Actions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950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しかも、Next.js 自身が警告していた</a:t>
            </a:r>
            <a:r>
              <a:rPr sz="950" b="0">
                <a:solidFill>
                  <a:srgbClr val="6B7280"/>
                </a:solidFill>
                <a:latin typeface="Arial"/>
              </a:rPr>
              <a:t>　― npm run dev が AGENTS.md を自動生成する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145536"/>
            <a:ext cx="4937760" cy="107350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9496" y="3227832"/>
            <a:ext cx="4773168" cy="90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CA5A5"/>
                </a:solidFill>
                <a:latin typeface="Courier New"/>
              </a:rPr>
              <a:t># This is NOT the Next.js you know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This version has breaking changes — APIs,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conventions, and file structure may all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differ from your training data. Read the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relevant guide in node_modules/next/dist/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docs/ before writing any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3145536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827"/>
                </a:solidFill>
                <a:latin typeface="Arial"/>
              </a:rPr>
              <a:t>読み取れること</a:t>
            </a:r>
          </a:p>
          <a:p>
            <a:pPr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>
                <a:solidFill>
                  <a:srgbClr val="111827"/>
                </a:solidFill>
                <a:latin typeface="Arial"/>
              </a:rPr>
              <a:t>・フレームワーク自身がバージョン差の問題を認めている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111827"/>
                </a:solidFill>
                <a:latin typeface="Arial"/>
              </a:rPr>
              <a:t>・ドキュメントが node_modules に同梱されている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111827"/>
                </a:solidFill>
                <a:latin typeface="Arial"/>
              </a:rPr>
              <a:t>・読んだ結果、動的ルートの params が Promise だと分かった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4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3504" y="4526280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バージョンを確認して、公式を一次情報にする。記事は補助に使う。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画面 ｜ 作る範囲を決める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なぜ・困る時：7画面のモックを作ったが多すぎた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「どのページを作るか」の話。コンポーネントの分け方（Feature-based など）は Phase 4 後半のテーマ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なぜ必要か： </a:t>
            </a:r>
            <a:r>
              <a:rPr sz="1050" b="0">
                <a:solidFill>
                  <a:srgbClr val="111827"/>
                </a:solidFill>
                <a:latin typeface="Arial"/>
              </a:rPr>
              <a:t>作る前に「作らないもの」を決めないと、使われない画面に時間を使う。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24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こういう時に困る： </a:t>
            </a:r>
            <a:r>
              <a:rPr sz="1050" b="0">
                <a:solidFill>
                  <a:srgbClr val="111827"/>
                </a:solidFill>
                <a:latin typeface="Arial"/>
              </a:rPr>
              <a:t>設計フェーズでモックを7枚作った。実装量を見積もったら 12〜16 時間だった。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93392"/>
          <a:ext cx="822960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2926080"/>
                <a:gridCol w="2194560"/>
              </a:tblGrid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当初の画面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使用頻度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実装の重さ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ダッシュボード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毎日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重い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支出一覧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週1〜月1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月次清算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月1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PayPay 取り込み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週1〜月1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重い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カテゴリ管理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年に数回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ログイン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（認証は Phase 5）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アカウントメニュー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ほぼ使わない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軽い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968496"/>
            <a:ext cx="8229600" cy="438912"/>
          </a:xfrm>
          <a:prstGeom prst="rect">
            <a:avLst/>
          </a:prstGeom>
          <a:solidFill>
            <a:srgbClr val="FEFCE8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" y="4059935"/>
            <a:ext cx="7973568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13F12"/>
                </a:solidFill>
                <a:latin typeface="Arial"/>
              </a:rPr>
              <a:t>使用頻度を書き出したら、半分は年に数回しか使わない画面だった。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画面 ｜ 作る範囲を決める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どう対応するか：使用頻度で切る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Arial"/>
              </a:rPr>
              <a:t>画面を1つずつ、この3問にかける。No が多いほど独立させる必要がない。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1. </a:t>
            </a:r>
            <a:r>
              <a:rPr sz="1200" b="1">
                <a:solidFill>
                  <a:srgbClr val="111827"/>
                </a:solidFill>
                <a:latin typeface="Arial"/>
              </a:rPr>
              <a:t>その画面を週1回以上使うか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9339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2. </a:t>
            </a:r>
            <a:r>
              <a:rPr sz="1200" b="1">
                <a:solidFill>
                  <a:srgbClr val="111827"/>
                </a:solidFill>
                <a:latin typeface="Arial"/>
              </a:rPr>
              <a:t>他の画面に入れられないか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408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3. </a:t>
            </a:r>
            <a:r>
              <a:rPr sz="1200" b="1">
                <a:solidFill>
                  <a:srgbClr val="111827"/>
                </a:solidFill>
                <a:latin typeface="Arial"/>
              </a:rPr>
              <a:t>その画面が無いと運用が止まるか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0" y="1645920"/>
          <a:ext cx="3657600" cy="1133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256032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 の数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やること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そのまま作る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1〜2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他の画面に統合する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作らない（API は残す）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2816352"/>
            <a:ext cx="8229600" cy="56692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2907792"/>
            <a:ext cx="7973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大事な点： 機能を消すのではなく、画面を作らない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API とカラムは残したまま、UI だけ作らない。必要になったら画面を足すだけで済む。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2958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今日の一手： </a:t>
            </a:r>
            <a:r>
              <a:rPr sz="1050" b="0">
                <a:solidFill>
                  <a:srgbClr val="111827"/>
                </a:solidFill>
                <a:latin typeface="Arial"/>
              </a:rPr>
              <a:t>自分のモックで、使用頻度が一番低い画面を1つ挙げる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96512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3504" y="4178808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使用頻度が低い画面は独立させない。API は残して UI だけ作らない。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画面 ｜ 作る範囲を決める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対応の実例：7画面 → 3画面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35024"/>
          <a:ext cx="484632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246888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当初の画面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判断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ダッシュボード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残す（ホームに改称）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支出一覧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ホームに統合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月次清算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残す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PayPay 取り込み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残す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カテゴリ管理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廃止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ログイン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Phase 5 に送る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アカウントメニュー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廃止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23560" y="13350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廃止した機能の行き先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・支出一覧 → ホーム下部に統合。編集は行内で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・カテゴリ追加 → 入力欄の「+ 新規」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・並び替え・アーカイブ → 作らない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・表示名・パスワード変更 → Phase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2761488"/>
            <a:ext cx="3063240" cy="65836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751576" y="2852928"/>
            <a:ext cx="28072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66534"/>
                </a:solidFill>
                <a:latin typeface="Arial"/>
              </a:rPr>
              <a:t>得たもの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6534"/>
                </a:solidFill>
                <a:latin typeface="Arial"/>
              </a:rPr>
              <a:t>実装が概ね半分になり、Phase 5 に早く進める。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1868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代償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・カテゴリの並び替えが UI からできない（API は残してある）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・モックを作り直す手間が発生した（PC 版とスマホ版で6枚）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59936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" y="4142232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使用頻度で切る。API を残しておけば、後から画面を足せる。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自分のアプリへ ｜ 3つを決める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自分のアプリで決めること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手元のモックかコードを開いて、3つを1行ずつ書く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84048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481328"/>
            <a:ext cx="7680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Arial"/>
              </a:rPr>
              <a:t>境界</a:t>
            </a:r>
            <a:r>
              <a:rPr sz="1100" b="0">
                <a:solidFill>
                  <a:srgbClr val="111827"/>
                </a:solidFill>
                <a:latin typeface="Arial"/>
              </a:rPr>
              <a:t>　最初に作る画面で、'use client' が必要な部品を1つ挙げる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21408"/>
            <a:ext cx="384048" cy="3840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" y="221284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139696"/>
            <a:ext cx="7680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59669"/>
                </a:solidFill>
                <a:latin typeface="Arial"/>
              </a:rPr>
              <a:t>接続</a:t>
            </a:r>
            <a:r>
              <a:rPr sz="1100" b="0">
                <a:solidFill>
                  <a:srgbClr val="111827"/>
                </a:solidFill>
                <a:latin typeface="Arial"/>
              </a:rPr>
              <a:t>　更新後に画面を更新する手段を決めたか（使う関数名を1つ書く）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79776"/>
            <a:ext cx="38404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200" y="287121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798064"/>
            <a:ext cx="7680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A580C"/>
                </a:solidFill>
                <a:latin typeface="Arial"/>
              </a:rPr>
              <a:t>画面</a:t>
            </a:r>
            <a:r>
              <a:rPr sz="1100" b="0">
                <a:solidFill>
                  <a:srgbClr val="111827"/>
                </a:solidFill>
                <a:latin typeface="Arial"/>
              </a:rPr>
              <a:t>　作らないと決めた画面はあるか（1つ挙げる。無ければ「なし」）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29584"/>
            <a:ext cx="8229600" cy="5486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85216" y="3621024"/>
            <a:ext cx="7973568" cy="365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まだコードがない人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作る予定の画面で「どこをクライアントにするか・どう更新するか・作らない画面はどれか」を紙に書く。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4281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Arial"/>
              </a:rPr>
              <a:t>書けたら、1つだけ共有してください（パス可）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BBF24"/>
                </a:solidFill>
                <a:latin typeface="Arial"/>
              </a:rPr>
              <a:t>まとめ ｜ 明日やる1つ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明日やる1つを決める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</a:rPr>
              <a:t>今日のキーワード： </a:t>
            </a:r>
            <a:r>
              <a:rPr sz="1300" b="1">
                <a:solidFill>
                  <a:srgbClr val="FFFFFF"/>
                </a:solidFill>
                <a:latin typeface="Arial"/>
              </a:rPr>
              <a:t>境界 / 接続 / 画面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01952"/>
            <a:ext cx="12801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192024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境界</a:t>
            </a:r>
            <a:r>
              <a:rPr sz="1100" b="0">
                <a:solidFill>
                  <a:srgbClr val="D1D5DB"/>
                </a:solidFill>
                <a:latin typeface="Arial"/>
              </a:rPr>
              <a:t>　既定はサーバー。操作がある部品だけ 'use client' を付ける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28016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接続</a:t>
            </a:r>
            <a:r>
              <a:rPr sz="1100" b="0">
                <a:solidFill>
                  <a:srgbClr val="D1D5DB"/>
                </a:solidFill>
                <a:latin typeface="Arial"/>
              </a:rPr>
              <a:t>　表示は await、変更は Server Actions。更新後に refresh()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852928"/>
            <a:ext cx="128016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6112" y="2871216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画面</a:t>
            </a:r>
            <a:r>
              <a:rPr sz="1100" b="0">
                <a:solidFill>
                  <a:srgbClr val="D1D5DB"/>
                </a:solidFill>
                <a:latin typeface="Arial"/>
              </a:rPr>
              <a:t>　使用頻度が低い画面は作らない。API は残しておく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7863840" cy="475488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351129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3つ全部ではなく、決めた1つだけ。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33087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CA3AF"/>
                </a:solidFill>
                <a:latin typeface="Arial"/>
              </a:rPr>
              <a:t>今日の副産物： </a:t>
            </a:r>
            <a:r>
              <a:rPr sz="1100" b="0">
                <a:solidFill>
                  <a:srgbClr val="D1D5DB"/>
                </a:solidFill>
                <a:latin typeface="Arial"/>
              </a:rPr>
              <a:t>バージョンを確認して公式を読む。記事は補助に使う。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43984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Arial"/>
              </a:rPr>
              <a:t>次回：Phase 4 後半（コンポーネント設計・UI ライブラリ）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